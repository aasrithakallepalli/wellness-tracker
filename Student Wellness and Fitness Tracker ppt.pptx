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Knewave" charset="1" panose="02000806000000020004"/>
      <p:regular r:id="rId18"/>
    </p:embeddedFont>
    <p:embeddedFont>
      <p:font typeface="Canva Sans Bold" charset="1" panose="020B0803030501040103"/>
      <p:regular r:id="rId19"/>
    </p:embeddedFont>
    <p:embeddedFont>
      <p:font typeface="Comic Sans" charset="1" panose="03000702030302020204"/>
      <p:regular r:id="rId20"/>
    </p:embeddedFont>
    <p:embeddedFont>
      <p:font typeface="Comic Sans Bold" charset="1" panose="03000902030302020204"/>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0.png" Type="http://schemas.openxmlformats.org/officeDocument/2006/relationships/image"/><Relationship Id="rId11" Target="../media/image21.svg" Type="http://schemas.openxmlformats.org/officeDocument/2006/relationships/image"/><Relationship Id="rId12" Target="../media/image13.png" Type="http://schemas.openxmlformats.org/officeDocument/2006/relationships/image"/><Relationship Id="rId13" Target="../media/image14.svg" Type="http://schemas.openxmlformats.org/officeDocument/2006/relationships/image"/><Relationship Id="rId14" Target="../media/image22.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18.png" Type="http://schemas.openxmlformats.org/officeDocument/2006/relationships/image"/><Relationship Id="rId9" Target="../media/image19.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7.png" Type="http://schemas.openxmlformats.org/officeDocument/2006/relationships/image"/><Relationship Id="rId11" Target="../media/image28.svg" Type="http://schemas.openxmlformats.org/officeDocument/2006/relationships/image"/><Relationship Id="rId12" Target="../media/image22.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23.png" Type="http://schemas.openxmlformats.org/officeDocument/2006/relationships/image"/><Relationship Id="rId7" Target="../media/image24.svg" Type="http://schemas.openxmlformats.org/officeDocument/2006/relationships/image"/><Relationship Id="rId8" Target="../media/image25.png" Type="http://schemas.openxmlformats.org/officeDocument/2006/relationships/image"/><Relationship Id="rId9" Target="../media/image26.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2.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29.png" Type="http://schemas.openxmlformats.org/officeDocument/2006/relationships/image"/><Relationship Id="rId7" Target="../media/image30.svg" Type="http://schemas.openxmlformats.org/officeDocument/2006/relationships/image"/><Relationship Id="rId8" Target="../media/image31.png" Type="http://schemas.openxmlformats.org/officeDocument/2006/relationships/image"/><Relationship Id="rId9" Target="../media/image3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5.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23.png" Type="http://schemas.openxmlformats.org/officeDocument/2006/relationships/image"/><Relationship Id="rId7" Target="../media/image24.svg" Type="http://schemas.openxmlformats.org/officeDocument/2006/relationships/image"/><Relationship Id="rId8" Target="../media/image33.png" Type="http://schemas.openxmlformats.org/officeDocument/2006/relationships/image"/><Relationship Id="rId9" Target="../media/image34.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36.png" Type="http://schemas.openxmlformats.org/officeDocument/2006/relationships/image"/><Relationship Id="rId7" Target="../media/image37.svg" Type="http://schemas.openxmlformats.org/officeDocument/2006/relationships/image"/><Relationship Id="rId8" Target="../media/image2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38.png" Type="http://schemas.openxmlformats.org/officeDocument/2006/relationships/image"/><Relationship Id="rId7" Target="../media/image39.svg" Type="http://schemas.openxmlformats.org/officeDocument/2006/relationships/image"/><Relationship Id="rId8" Target="../media/image2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2.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40.png" Type="http://schemas.openxmlformats.org/officeDocument/2006/relationships/image"/><Relationship Id="rId7" Target="../media/image41.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2.png" Type="http://schemas.openxmlformats.org/officeDocument/2006/relationships/image"/><Relationship Id="rId5" Target="../media/image43.svg" Type="http://schemas.openxmlformats.org/officeDocument/2006/relationships/image"/><Relationship Id="rId6" Target="../media/image44.png" Type="http://schemas.openxmlformats.org/officeDocument/2006/relationships/image"/><Relationship Id="rId7" Target="../media/image45.svg" Type="http://schemas.openxmlformats.org/officeDocument/2006/relationships/image"/><Relationship Id="rId8" Target="../media/image1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2.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46.png" Type="http://schemas.openxmlformats.org/officeDocument/2006/relationships/image"/><Relationship Id="rId7" Target="../media/image47.svg" Type="http://schemas.openxmlformats.org/officeDocument/2006/relationships/image"/><Relationship Id="rId8" Target="../media/image48.png" Type="http://schemas.openxmlformats.org/officeDocument/2006/relationships/image"/><Relationship Id="rId9" Target="../media/image49.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22.png" Type="http://schemas.openxmlformats.org/officeDocument/2006/relationships/image"/><Relationship Id="rId7" Target="../media/image31.png" Type="http://schemas.openxmlformats.org/officeDocument/2006/relationships/image"/><Relationship Id="rId8" Target="../media/image32.svg" Type="http://schemas.openxmlformats.org/officeDocument/2006/relationships/image"/><Relationship Id="rId9" Target="../media/image7.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22.png" Type="http://schemas.openxmlformats.org/officeDocument/2006/relationships/image"/><Relationship Id="rId7" Target="../media/image23.png" Type="http://schemas.openxmlformats.org/officeDocument/2006/relationships/image"/><Relationship Id="rId8" Target="../media/image24.svg" Type="http://schemas.openxmlformats.org/officeDocument/2006/relationships/image"/><Relationship Id="rId9" Target="../media/image29.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5143500"/>
            <a:ext cx="10287000" cy="20574000"/>
          </a:xfrm>
          <a:custGeom>
            <a:avLst/>
            <a:gdLst/>
            <a:ahLst/>
            <a:cxnLst/>
            <a:rect r="r" b="b" t="t" l="l"/>
            <a:pathLst>
              <a:path h="20574000" w="10287000">
                <a:moveTo>
                  <a:pt x="0" y="0"/>
                </a:moveTo>
                <a:lnTo>
                  <a:pt x="10287000" y="0"/>
                </a:lnTo>
                <a:lnTo>
                  <a:pt x="10287000" y="20574000"/>
                </a:lnTo>
                <a:lnTo>
                  <a:pt x="0" y="20574000"/>
                </a:lnTo>
                <a:lnTo>
                  <a:pt x="0" y="0"/>
                </a:lnTo>
                <a:close/>
              </a:path>
            </a:pathLst>
          </a:custGeom>
          <a:blipFill>
            <a:blip r:embed="rId2">
              <a:alphaModFix amt="6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0" y="0"/>
            <a:ext cx="5682118" cy="5031258"/>
          </a:xfrm>
          <a:custGeom>
            <a:avLst/>
            <a:gdLst/>
            <a:ahLst/>
            <a:cxnLst/>
            <a:rect r="r" b="b" t="t" l="l"/>
            <a:pathLst>
              <a:path h="5031258" w="5682118">
                <a:moveTo>
                  <a:pt x="0" y="0"/>
                </a:moveTo>
                <a:lnTo>
                  <a:pt x="5682118" y="0"/>
                </a:lnTo>
                <a:lnTo>
                  <a:pt x="5682118" y="5031258"/>
                </a:lnTo>
                <a:lnTo>
                  <a:pt x="0" y="503125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631468" y="5255742"/>
            <a:ext cx="5682118" cy="5031258"/>
          </a:xfrm>
          <a:custGeom>
            <a:avLst/>
            <a:gdLst/>
            <a:ahLst/>
            <a:cxnLst/>
            <a:rect r="r" b="b" t="t" l="l"/>
            <a:pathLst>
              <a:path h="5031258" w="5682118">
                <a:moveTo>
                  <a:pt x="0" y="0"/>
                </a:moveTo>
                <a:lnTo>
                  <a:pt x="5682118" y="0"/>
                </a:lnTo>
                <a:lnTo>
                  <a:pt x="5682118" y="5031258"/>
                </a:lnTo>
                <a:lnTo>
                  <a:pt x="0" y="503125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3693010" y="2863704"/>
            <a:ext cx="11180205" cy="4907667"/>
          </a:xfrm>
          <a:prstGeom prst="rect">
            <a:avLst/>
          </a:prstGeom>
        </p:spPr>
        <p:txBody>
          <a:bodyPr anchor="t" rtlCol="false" tIns="0" lIns="0" bIns="0" rIns="0">
            <a:spAutoFit/>
          </a:bodyPr>
          <a:lstStyle/>
          <a:p>
            <a:pPr algn="ctr">
              <a:lnSpc>
                <a:spcPts val="12911"/>
              </a:lnSpc>
              <a:spcBef>
                <a:spcPct val="0"/>
              </a:spcBef>
            </a:pPr>
            <a:r>
              <a:rPr lang="en-US" sz="10759">
                <a:solidFill>
                  <a:srgbClr val="334865"/>
                </a:solidFill>
                <a:latin typeface="Knewave"/>
                <a:ea typeface="Knewave"/>
                <a:cs typeface="Knewave"/>
                <a:sym typeface="Knewave"/>
              </a:rPr>
              <a:t>Student Wellness</a:t>
            </a:r>
            <a:r>
              <a:rPr lang="en-US" sz="10759">
                <a:solidFill>
                  <a:srgbClr val="334865"/>
                </a:solidFill>
                <a:latin typeface="Knewave"/>
                <a:ea typeface="Knewave"/>
                <a:cs typeface="Knewave"/>
                <a:sym typeface="Knewave"/>
              </a:rPr>
              <a:t> and Fitness Tracker </a:t>
            </a:r>
          </a:p>
        </p:txBody>
      </p:sp>
      <p:sp>
        <p:nvSpPr>
          <p:cNvPr name="Freeform 6" id="6"/>
          <p:cNvSpPr/>
          <p:nvPr/>
        </p:nvSpPr>
        <p:spPr>
          <a:xfrm flipH="false" flipV="false" rot="0">
            <a:off x="13438451" y="7815800"/>
            <a:ext cx="2344718" cy="2885000"/>
          </a:xfrm>
          <a:custGeom>
            <a:avLst/>
            <a:gdLst/>
            <a:ahLst/>
            <a:cxnLst/>
            <a:rect r="r" b="b" t="t" l="l"/>
            <a:pathLst>
              <a:path h="2885000" w="2344718">
                <a:moveTo>
                  <a:pt x="0" y="0"/>
                </a:moveTo>
                <a:lnTo>
                  <a:pt x="2344719" y="0"/>
                </a:lnTo>
                <a:lnTo>
                  <a:pt x="2344719" y="2885000"/>
                </a:lnTo>
                <a:lnTo>
                  <a:pt x="0" y="28850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1673250">
            <a:off x="1405579" y="376258"/>
            <a:ext cx="3832183" cy="1902156"/>
          </a:xfrm>
          <a:custGeom>
            <a:avLst/>
            <a:gdLst/>
            <a:ahLst/>
            <a:cxnLst/>
            <a:rect r="r" b="b" t="t" l="l"/>
            <a:pathLst>
              <a:path h="1902156" w="3832183">
                <a:moveTo>
                  <a:pt x="0" y="0"/>
                </a:moveTo>
                <a:lnTo>
                  <a:pt x="3832183" y="0"/>
                </a:lnTo>
                <a:lnTo>
                  <a:pt x="3832183" y="1902156"/>
                </a:lnTo>
                <a:lnTo>
                  <a:pt x="0" y="190215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1710246">
            <a:off x="14761410" y="4962977"/>
            <a:ext cx="2653118" cy="3165325"/>
          </a:xfrm>
          <a:custGeom>
            <a:avLst/>
            <a:gdLst/>
            <a:ahLst/>
            <a:cxnLst/>
            <a:rect r="r" b="b" t="t" l="l"/>
            <a:pathLst>
              <a:path h="3165325" w="2653118">
                <a:moveTo>
                  <a:pt x="0" y="0"/>
                </a:moveTo>
                <a:lnTo>
                  <a:pt x="2653118" y="0"/>
                </a:lnTo>
                <a:lnTo>
                  <a:pt x="2653118" y="3165325"/>
                </a:lnTo>
                <a:lnTo>
                  <a:pt x="0" y="316532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false" flipV="false" rot="-1240168">
            <a:off x="1224309" y="3088659"/>
            <a:ext cx="1693877" cy="2595076"/>
          </a:xfrm>
          <a:custGeom>
            <a:avLst/>
            <a:gdLst/>
            <a:ahLst/>
            <a:cxnLst/>
            <a:rect r="r" b="b" t="t" l="l"/>
            <a:pathLst>
              <a:path h="2595076" w="1693877">
                <a:moveTo>
                  <a:pt x="0" y="0"/>
                </a:moveTo>
                <a:lnTo>
                  <a:pt x="1693877" y="0"/>
                </a:lnTo>
                <a:lnTo>
                  <a:pt x="1693877" y="2595076"/>
                </a:lnTo>
                <a:lnTo>
                  <a:pt x="0" y="259507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nvGrpSpPr>
          <p:cNvPr name="Group 10" id="10"/>
          <p:cNvGrpSpPr/>
          <p:nvPr/>
        </p:nvGrpSpPr>
        <p:grpSpPr>
          <a:xfrm rot="0">
            <a:off x="5460097" y="8146091"/>
            <a:ext cx="7056284" cy="1744285"/>
            <a:chOff x="0" y="0"/>
            <a:chExt cx="3053418" cy="754792"/>
          </a:xfrm>
        </p:grpSpPr>
        <p:sp>
          <p:nvSpPr>
            <p:cNvPr name="Freeform 11" id="11"/>
            <p:cNvSpPr/>
            <p:nvPr/>
          </p:nvSpPr>
          <p:spPr>
            <a:xfrm flipH="false" flipV="false" rot="0">
              <a:off x="0" y="0"/>
              <a:ext cx="3053418" cy="754792"/>
            </a:xfrm>
            <a:custGeom>
              <a:avLst/>
              <a:gdLst/>
              <a:ahLst/>
              <a:cxnLst/>
              <a:rect r="r" b="b" t="t" l="l"/>
              <a:pathLst>
                <a:path h="754792" w="3053418">
                  <a:moveTo>
                    <a:pt x="2850218" y="0"/>
                  </a:moveTo>
                  <a:cubicBezTo>
                    <a:pt x="2962442" y="0"/>
                    <a:pt x="3053418" y="168966"/>
                    <a:pt x="3053418" y="377396"/>
                  </a:cubicBezTo>
                  <a:cubicBezTo>
                    <a:pt x="3053418" y="585826"/>
                    <a:pt x="2962442" y="754792"/>
                    <a:pt x="2850218" y="754792"/>
                  </a:cubicBezTo>
                  <a:lnTo>
                    <a:pt x="203200" y="754792"/>
                  </a:lnTo>
                  <a:cubicBezTo>
                    <a:pt x="90976" y="754792"/>
                    <a:pt x="0" y="585826"/>
                    <a:pt x="0" y="377396"/>
                  </a:cubicBezTo>
                  <a:cubicBezTo>
                    <a:pt x="0" y="168966"/>
                    <a:pt x="90976" y="0"/>
                    <a:pt x="203200" y="0"/>
                  </a:cubicBezTo>
                  <a:close/>
                </a:path>
              </a:pathLst>
            </a:custGeom>
            <a:solidFill>
              <a:srgbClr val="FFC966"/>
            </a:solidFill>
          </p:spPr>
        </p:sp>
        <p:sp>
          <p:nvSpPr>
            <p:cNvPr name="TextBox 12" id="12"/>
            <p:cNvSpPr txBox="true"/>
            <p:nvPr/>
          </p:nvSpPr>
          <p:spPr>
            <a:xfrm>
              <a:off x="0" y="-47625"/>
              <a:ext cx="3053418" cy="802417"/>
            </a:xfrm>
            <a:prstGeom prst="rect">
              <a:avLst/>
            </a:prstGeom>
          </p:spPr>
          <p:txBody>
            <a:bodyPr anchor="ctr" rtlCol="false" tIns="50800" lIns="50800" bIns="50800" rIns="50800"/>
            <a:lstStyle/>
            <a:p>
              <a:pPr algn="ctr">
                <a:lnSpc>
                  <a:spcPts val="3499"/>
                </a:lnSpc>
              </a:pPr>
              <a:r>
                <a:rPr lang="en-US" sz="2499" b="true">
                  <a:solidFill>
                    <a:srgbClr val="000000"/>
                  </a:solidFill>
                  <a:latin typeface="Canva Sans Bold"/>
                  <a:ea typeface="Canva Sans Bold"/>
                  <a:cs typeface="Canva Sans Bold"/>
                  <a:sym typeface="Canva Sans Bold"/>
                </a:rPr>
                <a:t>K.Aasritha sai Lakshmi - 2520090006</a:t>
              </a:r>
            </a:p>
            <a:p>
              <a:pPr algn="ctr">
                <a:lnSpc>
                  <a:spcPts val="3499"/>
                </a:lnSpc>
              </a:pPr>
              <a:r>
                <a:rPr lang="en-US" sz="2499" b="true">
                  <a:solidFill>
                    <a:srgbClr val="000000"/>
                  </a:solidFill>
                  <a:latin typeface="Canva Sans Bold"/>
                  <a:ea typeface="Canva Sans Bold"/>
                  <a:cs typeface="Canva Sans Bold"/>
                  <a:sym typeface="Canva Sans Bold"/>
                </a:rPr>
                <a:t>Sravya Peri - 2520090059</a:t>
              </a:r>
            </a:p>
            <a:p>
              <a:pPr algn="ctr">
                <a:lnSpc>
                  <a:spcPts val="3499"/>
                </a:lnSpc>
                <a:spcBef>
                  <a:spcPct val="0"/>
                </a:spcBef>
              </a:pPr>
              <a:r>
                <a:rPr lang="en-US" b="true" sz="2499">
                  <a:solidFill>
                    <a:srgbClr val="000000"/>
                  </a:solidFill>
                  <a:latin typeface="Canva Sans Bold"/>
                  <a:ea typeface="Canva Sans Bold"/>
                  <a:cs typeface="Canva Sans Bold"/>
                  <a:sym typeface="Canva Sans Bold"/>
                </a:rPr>
                <a:t>Section-12</a:t>
              </a:r>
            </a:p>
          </p:txBody>
        </p:sp>
      </p:grpSp>
      <p:sp>
        <p:nvSpPr>
          <p:cNvPr name="Freeform 13" id="13"/>
          <p:cNvSpPr/>
          <p:nvPr/>
        </p:nvSpPr>
        <p:spPr>
          <a:xfrm flipH="false" flipV="false" rot="0">
            <a:off x="13491801" y="1327336"/>
            <a:ext cx="1350259" cy="1350259"/>
          </a:xfrm>
          <a:custGeom>
            <a:avLst/>
            <a:gdLst/>
            <a:ahLst/>
            <a:cxnLst/>
            <a:rect r="r" b="b" t="t" l="l"/>
            <a:pathLst>
              <a:path h="1350259" w="1350259">
                <a:moveTo>
                  <a:pt x="0" y="0"/>
                </a:moveTo>
                <a:lnTo>
                  <a:pt x="1350259" y="0"/>
                </a:lnTo>
                <a:lnTo>
                  <a:pt x="1350259" y="1350259"/>
                </a:lnTo>
                <a:lnTo>
                  <a:pt x="0" y="135025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4" id="14"/>
          <p:cNvSpPr/>
          <p:nvPr/>
        </p:nvSpPr>
        <p:spPr>
          <a:xfrm flipH="false" flipV="false" rot="0">
            <a:off x="3856236" y="7815800"/>
            <a:ext cx="1350259" cy="1350259"/>
          </a:xfrm>
          <a:custGeom>
            <a:avLst/>
            <a:gdLst/>
            <a:ahLst/>
            <a:cxnLst/>
            <a:rect r="r" b="b" t="t" l="l"/>
            <a:pathLst>
              <a:path h="1350259" w="1350259">
                <a:moveTo>
                  <a:pt x="0" y="0"/>
                </a:moveTo>
                <a:lnTo>
                  <a:pt x="1350259" y="0"/>
                </a:lnTo>
                <a:lnTo>
                  <a:pt x="1350259" y="1350259"/>
                </a:lnTo>
                <a:lnTo>
                  <a:pt x="0" y="135025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5" id="15"/>
          <p:cNvSpPr/>
          <p:nvPr/>
        </p:nvSpPr>
        <p:spPr>
          <a:xfrm flipH="false" flipV="false" rot="0">
            <a:off x="15134962" y="2726626"/>
            <a:ext cx="675129" cy="675129"/>
          </a:xfrm>
          <a:custGeom>
            <a:avLst/>
            <a:gdLst/>
            <a:ahLst/>
            <a:cxnLst/>
            <a:rect r="r" b="b" t="t" l="l"/>
            <a:pathLst>
              <a:path h="675129" w="675129">
                <a:moveTo>
                  <a:pt x="0" y="0"/>
                </a:moveTo>
                <a:lnTo>
                  <a:pt x="675129" y="0"/>
                </a:lnTo>
                <a:lnTo>
                  <a:pt x="675129" y="675129"/>
                </a:lnTo>
                <a:lnTo>
                  <a:pt x="0" y="67512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6" id="16"/>
          <p:cNvSpPr/>
          <p:nvPr/>
        </p:nvSpPr>
        <p:spPr>
          <a:xfrm flipH="false" flipV="false" rot="0">
            <a:off x="2646541" y="6824589"/>
            <a:ext cx="675129" cy="675129"/>
          </a:xfrm>
          <a:custGeom>
            <a:avLst/>
            <a:gdLst/>
            <a:ahLst/>
            <a:cxnLst/>
            <a:rect r="r" b="b" t="t" l="l"/>
            <a:pathLst>
              <a:path h="675129" w="675129">
                <a:moveTo>
                  <a:pt x="0" y="0"/>
                </a:moveTo>
                <a:lnTo>
                  <a:pt x="675130" y="0"/>
                </a:lnTo>
                <a:lnTo>
                  <a:pt x="675130" y="675130"/>
                </a:lnTo>
                <a:lnTo>
                  <a:pt x="0" y="67513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7" id="17"/>
          <p:cNvSpPr/>
          <p:nvPr/>
        </p:nvSpPr>
        <p:spPr>
          <a:xfrm flipH="false" flipV="false" rot="0">
            <a:off x="-282302" y="-409518"/>
            <a:ext cx="2206253" cy="2047884"/>
          </a:xfrm>
          <a:custGeom>
            <a:avLst/>
            <a:gdLst/>
            <a:ahLst/>
            <a:cxnLst/>
            <a:rect r="r" b="b" t="t" l="l"/>
            <a:pathLst>
              <a:path h="2047884" w="2206253">
                <a:moveTo>
                  <a:pt x="0" y="0"/>
                </a:moveTo>
                <a:lnTo>
                  <a:pt x="2206253" y="0"/>
                </a:lnTo>
                <a:lnTo>
                  <a:pt x="2206253" y="2047884"/>
                </a:lnTo>
                <a:lnTo>
                  <a:pt x="0" y="2047884"/>
                </a:lnTo>
                <a:lnTo>
                  <a:pt x="0" y="0"/>
                </a:lnTo>
                <a:close/>
              </a:path>
            </a:pathLst>
          </a:custGeom>
          <a:blipFill>
            <a:blip r:embed="rId16"/>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5143500"/>
            <a:ext cx="10287000" cy="20574000"/>
          </a:xfrm>
          <a:custGeom>
            <a:avLst/>
            <a:gdLst/>
            <a:ahLst/>
            <a:cxnLst/>
            <a:rect r="r" b="b" t="t" l="l"/>
            <a:pathLst>
              <a:path h="20574000" w="10287000">
                <a:moveTo>
                  <a:pt x="0" y="0"/>
                </a:moveTo>
                <a:lnTo>
                  <a:pt x="10287000" y="0"/>
                </a:lnTo>
                <a:lnTo>
                  <a:pt x="10287000" y="20574000"/>
                </a:lnTo>
                <a:lnTo>
                  <a:pt x="0" y="20574000"/>
                </a:lnTo>
                <a:lnTo>
                  <a:pt x="0" y="0"/>
                </a:lnTo>
                <a:close/>
              </a:path>
            </a:pathLst>
          </a:custGeom>
          <a:blipFill>
            <a:blip r:embed="rId2">
              <a:alphaModFix amt="6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631468" y="5255742"/>
            <a:ext cx="5682118" cy="5031258"/>
          </a:xfrm>
          <a:custGeom>
            <a:avLst/>
            <a:gdLst/>
            <a:ahLst/>
            <a:cxnLst/>
            <a:rect r="r" b="b" t="t" l="l"/>
            <a:pathLst>
              <a:path h="5031258" w="5682118">
                <a:moveTo>
                  <a:pt x="0" y="0"/>
                </a:moveTo>
                <a:lnTo>
                  <a:pt x="5682118" y="0"/>
                </a:lnTo>
                <a:lnTo>
                  <a:pt x="5682118" y="5031258"/>
                </a:lnTo>
                <a:lnTo>
                  <a:pt x="0" y="503125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2136267">
            <a:off x="15377547" y="1007543"/>
            <a:ext cx="3000063" cy="4114800"/>
          </a:xfrm>
          <a:custGeom>
            <a:avLst/>
            <a:gdLst/>
            <a:ahLst/>
            <a:cxnLst/>
            <a:rect r="r" b="b" t="t" l="l"/>
            <a:pathLst>
              <a:path h="4114800" w="3000063">
                <a:moveTo>
                  <a:pt x="0" y="0"/>
                </a:moveTo>
                <a:lnTo>
                  <a:pt x="3000063" y="0"/>
                </a:lnTo>
                <a:lnTo>
                  <a:pt x="3000063"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569910">
            <a:off x="11579695" y="2876018"/>
            <a:ext cx="2625803" cy="3304786"/>
          </a:xfrm>
          <a:custGeom>
            <a:avLst/>
            <a:gdLst/>
            <a:ahLst/>
            <a:cxnLst/>
            <a:rect r="r" b="b" t="t" l="l"/>
            <a:pathLst>
              <a:path h="3304786" w="2625803">
                <a:moveTo>
                  <a:pt x="0" y="0"/>
                </a:moveTo>
                <a:lnTo>
                  <a:pt x="2625803" y="0"/>
                </a:lnTo>
                <a:lnTo>
                  <a:pt x="2625803" y="3304786"/>
                </a:lnTo>
                <a:lnTo>
                  <a:pt x="0" y="330478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1260027">
            <a:off x="11952298" y="6433056"/>
            <a:ext cx="5350213" cy="4114800"/>
          </a:xfrm>
          <a:custGeom>
            <a:avLst/>
            <a:gdLst/>
            <a:ahLst/>
            <a:cxnLst/>
            <a:rect r="r" b="b" t="t" l="l"/>
            <a:pathLst>
              <a:path h="4114800" w="5350213">
                <a:moveTo>
                  <a:pt x="0" y="0"/>
                </a:moveTo>
                <a:lnTo>
                  <a:pt x="5350213" y="0"/>
                </a:lnTo>
                <a:lnTo>
                  <a:pt x="5350213"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11542338" y="900263"/>
            <a:ext cx="1350259" cy="1350259"/>
          </a:xfrm>
          <a:custGeom>
            <a:avLst/>
            <a:gdLst/>
            <a:ahLst/>
            <a:cxnLst/>
            <a:rect r="r" b="b" t="t" l="l"/>
            <a:pathLst>
              <a:path h="1350259" w="1350259">
                <a:moveTo>
                  <a:pt x="0" y="0"/>
                </a:moveTo>
                <a:lnTo>
                  <a:pt x="1350259" y="0"/>
                </a:lnTo>
                <a:lnTo>
                  <a:pt x="1350259" y="1350258"/>
                </a:lnTo>
                <a:lnTo>
                  <a:pt x="0" y="1350258"/>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false" flipV="false" rot="0">
            <a:off x="10717534" y="2727378"/>
            <a:ext cx="675129" cy="675129"/>
          </a:xfrm>
          <a:custGeom>
            <a:avLst/>
            <a:gdLst/>
            <a:ahLst/>
            <a:cxnLst/>
            <a:rect r="r" b="b" t="t" l="l"/>
            <a:pathLst>
              <a:path h="675129" w="675129">
                <a:moveTo>
                  <a:pt x="0" y="0"/>
                </a:moveTo>
                <a:lnTo>
                  <a:pt x="675130" y="0"/>
                </a:lnTo>
                <a:lnTo>
                  <a:pt x="675130" y="675130"/>
                </a:lnTo>
                <a:lnTo>
                  <a:pt x="0" y="67513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9" id="9"/>
          <p:cNvSpPr/>
          <p:nvPr/>
        </p:nvSpPr>
        <p:spPr>
          <a:xfrm flipH="false" flipV="false" rot="0">
            <a:off x="0" y="0"/>
            <a:ext cx="1787615" cy="1347927"/>
          </a:xfrm>
          <a:custGeom>
            <a:avLst/>
            <a:gdLst/>
            <a:ahLst/>
            <a:cxnLst/>
            <a:rect r="r" b="b" t="t" l="l"/>
            <a:pathLst>
              <a:path h="1347927" w="1787615">
                <a:moveTo>
                  <a:pt x="0" y="0"/>
                </a:moveTo>
                <a:lnTo>
                  <a:pt x="1787615" y="0"/>
                </a:lnTo>
                <a:lnTo>
                  <a:pt x="1787615" y="1347927"/>
                </a:lnTo>
                <a:lnTo>
                  <a:pt x="0" y="1347927"/>
                </a:lnTo>
                <a:lnTo>
                  <a:pt x="0" y="0"/>
                </a:lnTo>
                <a:close/>
              </a:path>
            </a:pathLst>
          </a:custGeom>
          <a:blipFill>
            <a:blip r:embed="rId14"/>
            <a:stretch>
              <a:fillRect l="0" t="-11549" r="0" b="-11549"/>
            </a:stretch>
          </a:blipFill>
        </p:spPr>
      </p:sp>
      <p:sp>
        <p:nvSpPr>
          <p:cNvPr name="TextBox 10" id="10"/>
          <p:cNvSpPr txBox="true"/>
          <p:nvPr/>
        </p:nvSpPr>
        <p:spPr>
          <a:xfrm rot="0">
            <a:off x="286949" y="1252332"/>
            <a:ext cx="10546635" cy="1221821"/>
          </a:xfrm>
          <a:prstGeom prst="rect">
            <a:avLst/>
          </a:prstGeom>
        </p:spPr>
        <p:txBody>
          <a:bodyPr anchor="t" rtlCol="false" tIns="0" lIns="0" bIns="0" rIns="0">
            <a:spAutoFit/>
          </a:bodyPr>
          <a:lstStyle/>
          <a:p>
            <a:pPr algn="l">
              <a:lnSpc>
                <a:spcPts val="9662"/>
              </a:lnSpc>
              <a:spcBef>
                <a:spcPct val="0"/>
              </a:spcBef>
            </a:pPr>
            <a:r>
              <a:rPr lang="en-US" sz="8051">
                <a:solidFill>
                  <a:srgbClr val="334865"/>
                </a:solidFill>
                <a:latin typeface="Knewave"/>
                <a:ea typeface="Knewave"/>
                <a:cs typeface="Knewave"/>
                <a:sym typeface="Knewave"/>
              </a:rPr>
              <a:t> Purpose</a:t>
            </a:r>
          </a:p>
        </p:txBody>
      </p:sp>
      <p:sp>
        <p:nvSpPr>
          <p:cNvPr name="TextBox 11" id="11"/>
          <p:cNvSpPr txBox="true"/>
          <p:nvPr/>
        </p:nvSpPr>
        <p:spPr>
          <a:xfrm rot="0">
            <a:off x="456790" y="2863716"/>
            <a:ext cx="10206953" cy="6955508"/>
          </a:xfrm>
          <a:prstGeom prst="rect">
            <a:avLst/>
          </a:prstGeom>
        </p:spPr>
        <p:txBody>
          <a:bodyPr anchor="t" rtlCol="false" tIns="0" lIns="0" bIns="0" rIns="0">
            <a:spAutoFit/>
          </a:bodyPr>
          <a:lstStyle/>
          <a:p>
            <a:pPr algn="l">
              <a:lnSpc>
                <a:spcPts val="4600"/>
              </a:lnSpc>
            </a:pPr>
            <a:r>
              <a:rPr lang="en-US" sz="3286">
                <a:solidFill>
                  <a:srgbClr val="334865"/>
                </a:solidFill>
                <a:latin typeface="Comic Sans"/>
                <a:ea typeface="Comic Sans"/>
                <a:cs typeface="Comic Sans"/>
                <a:sym typeface="Comic Sans"/>
              </a:rPr>
              <a:t>Well</a:t>
            </a:r>
            <a:r>
              <a:rPr lang="en-US" sz="3286">
                <a:solidFill>
                  <a:srgbClr val="334865"/>
                </a:solidFill>
                <a:latin typeface="Comic Sans"/>
                <a:ea typeface="Comic Sans"/>
                <a:cs typeface="Comic Sans"/>
                <a:sym typeface="Comic Sans"/>
              </a:rPr>
              <a:t>nessTracker is a web application built to help college students monitor their daily health habits in one simple place. It allows students to log their exercise, sleep, water intake, and mood every day, and view their progress through a wellness dashboard. The application uses HTML, CSS, and JavaScript on the frontend and a Node.js HTTP server on the backend to save and retrieve activity data, demonstrating a complete client-server architecture without the need for a database or cloud deployment. </a:t>
            </a:r>
          </a:p>
          <a:p>
            <a:pPr algn="l">
              <a:lnSpc>
                <a:spcPts val="4600"/>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5143500"/>
            <a:ext cx="10287000" cy="20574000"/>
          </a:xfrm>
          <a:custGeom>
            <a:avLst/>
            <a:gdLst/>
            <a:ahLst/>
            <a:cxnLst/>
            <a:rect r="r" b="b" t="t" l="l"/>
            <a:pathLst>
              <a:path h="20574000" w="10287000">
                <a:moveTo>
                  <a:pt x="0" y="0"/>
                </a:moveTo>
                <a:lnTo>
                  <a:pt x="10287000" y="0"/>
                </a:lnTo>
                <a:lnTo>
                  <a:pt x="10287000" y="20574000"/>
                </a:lnTo>
                <a:lnTo>
                  <a:pt x="0" y="20574000"/>
                </a:lnTo>
                <a:lnTo>
                  <a:pt x="0" y="0"/>
                </a:lnTo>
                <a:close/>
              </a:path>
            </a:pathLst>
          </a:custGeom>
          <a:blipFill>
            <a:blip r:embed="rId2">
              <a:alphaModFix amt="6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605882" y="5975300"/>
            <a:ext cx="5682118" cy="5031258"/>
          </a:xfrm>
          <a:custGeom>
            <a:avLst/>
            <a:gdLst/>
            <a:ahLst/>
            <a:cxnLst/>
            <a:rect r="r" b="b" t="t" l="l"/>
            <a:pathLst>
              <a:path h="5031258" w="5682118">
                <a:moveTo>
                  <a:pt x="0" y="0"/>
                </a:moveTo>
                <a:lnTo>
                  <a:pt x="5682118" y="0"/>
                </a:lnTo>
                <a:lnTo>
                  <a:pt x="5682118" y="5031258"/>
                </a:lnTo>
                <a:lnTo>
                  <a:pt x="0" y="503125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1226224">
            <a:off x="15634965" y="5606864"/>
            <a:ext cx="2043142" cy="3861608"/>
          </a:xfrm>
          <a:custGeom>
            <a:avLst/>
            <a:gdLst/>
            <a:ahLst/>
            <a:cxnLst/>
            <a:rect r="r" b="b" t="t" l="l"/>
            <a:pathLst>
              <a:path h="3861608" w="2043142">
                <a:moveTo>
                  <a:pt x="0" y="0"/>
                </a:moveTo>
                <a:lnTo>
                  <a:pt x="2043141" y="0"/>
                </a:lnTo>
                <a:lnTo>
                  <a:pt x="2043141" y="3861608"/>
                </a:lnTo>
                <a:lnTo>
                  <a:pt x="0" y="386160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3533933" y="7537668"/>
            <a:ext cx="2394573" cy="2425443"/>
          </a:xfrm>
          <a:custGeom>
            <a:avLst/>
            <a:gdLst/>
            <a:ahLst/>
            <a:cxnLst/>
            <a:rect r="r" b="b" t="t" l="l"/>
            <a:pathLst>
              <a:path h="2425443" w="2394573">
                <a:moveTo>
                  <a:pt x="0" y="0"/>
                </a:moveTo>
                <a:lnTo>
                  <a:pt x="2394574" y="0"/>
                </a:lnTo>
                <a:lnTo>
                  <a:pt x="2394574" y="2425443"/>
                </a:lnTo>
                <a:lnTo>
                  <a:pt x="0" y="242544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474504">
            <a:off x="156413" y="1649637"/>
            <a:ext cx="2078884" cy="2417307"/>
          </a:xfrm>
          <a:custGeom>
            <a:avLst/>
            <a:gdLst/>
            <a:ahLst/>
            <a:cxnLst/>
            <a:rect r="r" b="b" t="t" l="l"/>
            <a:pathLst>
              <a:path h="2417307" w="2078884">
                <a:moveTo>
                  <a:pt x="0" y="0"/>
                </a:moveTo>
                <a:lnTo>
                  <a:pt x="2078883" y="0"/>
                </a:lnTo>
                <a:lnTo>
                  <a:pt x="2078883" y="2417307"/>
                </a:lnTo>
                <a:lnTo>
                  <a:pt x="0" y="241730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0" y="-75259"/>
            <a:ext cx="1784124" cy="1340175"/>
          </a:xfrm>
          <a:custGeom>
            <a:avLst/>
            <a:gdLst/>
            <a:ahLst/>
            <a:cxnLst/>
            <a:rect r="r" b="b" t="t" l="l"/>
            <a:pathLst>
              <a:path h="1340175" w="1784124">
                <a:moveTo>
                  <a:pt x="0" y="0"/>
                </a:moveTo>
                <a:lnTo>
                  <a:pt x="1784124" y="0"/>
                </a:lnTo>
                <a:lnTo>
                  <a:pt x="1784124" y="1340175"/>
                </a:lnTo>
                <a:lnTo>
                  <a:pt x="0" y="1340175"/>
                </a:lnTo>
                <a:lnTo>
                  <a:pt x="0" y="0"/>
                </a:lnTo>
                <a:close/>
              </a:path>
            </a:pathLst>
          </a:custGeom>
          <a:blipFill>
            <a:blip r:embed="rId12"/>
            <a:stretch>
              <a:fillRect l="0" t="-11785" r="0" b="-11785"/>
            </a:stretch>
          </a:blipFill>
        </p:spPr>
      </p:sp>
      <p:sp>
        <p:nvSpPr>
          <p:cNvPr name="TextBox 8" id="8"/>
          <p:cNvSpPr txBox="true"/>
          <p:nvPr/>
        </p:nvSpPr>
        <p:spPr>
          <a:xfrm rot="0">
            <a:off x="4583508" y="655316"/>
            <a:ext cx="9120984" cy="1219200"/>
          </a:xfrm>
          <a:prstGeom prst="rect">
            <a:avLst/>
          </a:prstGeom>
        </p:spPr>
        <p:txBody>
          <a:bodyPr anchor="t" rtlCol="false" tIns="0" lIns="0" bIns="0" rIns="0">
            <a:spAutoFit/>
          </a:bodyPr>
          <a:lstStyle/>
          <a:p>
            <a:pPr algn="ctr">
              <a:lnSpc>
                <a:spcPts val="9662"/>
              </a:lnSpc>
              <a:spcBef>
                <a:spcPct val="0"/>
              </a:spcBef>
            </a:pPr>
            <a:r>
              <a:rPr lang="en-US" sz="8051">
                <a:solidFill>
                  <a:srgbClr val="334865"/>
                </a:solidFill>
                <a:latin typeface="Knewave"/>
                <a:ea typeface="Knewave"/>
                <a:cs typeface="Knewave"/>
                <a:sym typeface="Knewave"/>
              </a:rPr>
              <a:t>Problem Statement</a:t>
            </a:r>
          </a:p>
        </p:txBody>
      </p:sp>
      <p:sp>
        <p:nvSpPr>
          <p:cNvPr name="TextBox 9" id="9"/>
          <p:cNvSpPr txBox="true"/>
          <p:nvPr/>
        </p:nvSpPr>
        <p:spPr>
          <a:xfrm rot="0">
            <a:off x="2391709" y="2321534"/>
            <a:ext cx="5860301" cy="7449645"/>
          </a:xfrm>
          <a:prstGeom prst="rect">
            <a:avLst/>
          </a:prstGeom>
        </p:spPr>
        <p:txBody>
          <a:bodyPr anchor="t" rtlCol="false" tIns="0" lIns="0" bIns="0" rIns="0">
            <a:spAutoFit/>
          </a:bodyPr>
          <a:lstStyle/>
          <a:p>
            <a:pPr algn="l">
              <a:lnSpc>
                <a:spcPts val="4527"/>
              </a:lnSpc>
            </a:pPr>
            <a:r>
              <a:rPr lang="en-US" sz="3233" b="true">
                <a:solidFill>
                  <a:srgbClr val="334865"/>
                </a:solidFill>
                <a:latin typeface="Comic Sans Bold"/>
                <a:ea typeface="Comic Sans Bold"/>
                <a:cs typeface="Comic Sans Bold"/>
                <a:sym typeface="Comic Sans Bold"/>
              </a:rPr>
              <a:t>Problem</a:t>
            </a:r>
            <a:r>
              <a:rPr lang="en-US" b="true" sz="3233">
                <a:solidFill>
                  <a:srgbClr val="334865"/>
                </a:solidFill>
                <a:latin typeface="Comic Sans Bold"/>
                <a:ea typeface="Comic Sans Bold"/>
                <a:cs typeface="Comic Sans Bold"/>
                <a:sym typeface="Comic Sans Bold"/>
              </a:rPr>
              <a:t> 1 — No Dedicated Student Tool.</a:t>
            </a:r>
          </a:p>
          <a:p>
            <a:pPr algn="l">
              <a:lnSpc>
                <a:spcPts val="4527"/>
              </a:lnSpc>
            </a:pPr>
            <a:r>
              <a:rPr lang="en-US" sz="3233">
                <a:solidFill>
                  <a:srgbClr val="334865"/>
                </a:solidFill>
                <a:latin typeface="Comic Sans"/>
                <a:ea typeface="Comic Sans"/>
                <a:cs typeface="Comic Sans"/>
                <a:sym typeface="Comic Sans"/>
              </a:rPr>
              <a:t>General fitness apps like Google Fit and MyFitnessPal are built for athletes and gym-goers. They are heavy, complicated, and require phone sensors or wearable devices. A college student with just a laptop has no simple tool designed for their lifestyle.</a:t>
            </a:r>
          </a:p>
          <a:p>
            <a:pPr algn="ctr">
              <a:lnSpc>
                <a:spcPts val="4802"/>
              </a:lnSpc>
            </a:pPr>
          </a:p>
        </p:txBody>
      </p:sp>
      <p:sp>
        <p:nvSpPr>
          <p:cNvPr name="TextBox 10" id="10"/>
          <p:cNvSpPr txBox="true"/>
          <p:nvPr/>
        </p:nvSpPr>
        <p:spPr>
          <a:xfrm rot="0">
            <a:off x="8252010" y="2388209"/>
            <a:ext cx="6637945" cy="5591175"/>
          </a:xfrm>
          <a:prstGeom prst="rect">
            <a:avLst/>
          </a:prstGeom>
        </p:spPr>
        <p:txBody>
          <a:bodyPr anchor="t" rtlCol="false" tIns="0" lIns="0" bIns="0" rIns="0">
            <a:spAutoFit/>
          </a:bodyPr>
          <a:lstStyle/>
          <a:p>
            <a:pPr algn="l">
              <a:lnSpc>
                <a:spcPts val="3875"/>
              </a:lnSpc>
              <a:spcBef>
                <a:spcPct val="0"/>
              </a:spcBef>
            </a:pPr>
            <a:r>
              <a:rPr lang="en-US" b="true" sz="3229">
                <a:solidFill>
                  <a:srgbClr val="334865"/>
                </a:solidFill>
                <a:latin typeface="Comic Sans Bold"/>
                <a:ea typeface="Comic Sans Bold"/>
                <a:cs typeface="Comic Sans Bold"/>
                <a:sym typeface="Comic Sans Bold"/>
              </a:rPr>
              <a:t>Pr</a:t>
            </a:r>
            <a:r>
              <a:rPr lang="en-US" b="true" sz="3229">
                <a:solidFill>
                  <a:srgbClr val="334865"/>
                </a:solidFill>
                <a:latin typeface="Comic Sans Bold"/>
                <a:ea typeface="Comic Sans Bold"/>
                <a:cs typeface="Comic Sans Bold"/>
                <a:sym typeface="Comic Sans Bold"/>
              </a:rPr>
              <a:t>oblem 2 — Scattered Health Data.</a:t>
            </a:r>
          </a:p>
          <a:p>
            <a:pPr algn="l">
              <a:lnSpc>
                <a:spcPts val="3875"/>
              </a:lnSpc>
              <a:spcBef>
                <a:spcPct val="0"/>
              </a:spcBef>
            </a:pPr>
            <a:r>
              <a:rPr lang="en-US" sz="3229">
                <a:solidFill>
                  <a:srgbClr val="334865"/>
                </a:solidFill>
                <a:latin typeface="Comic Sans"/>
                <a:ea typeface="Comic Sans"/>
                <a:cs typeface="Comic Sans"/>
                <a:sym typeface="Comic Sans"/>
              </a:rPr>
              <a:t>A student who wants to track sleep, water intake, and exercise must use three different apps or maintain a manual diary. There is no single place that combines all wellness parameters and gives a meaningful score from them.</a:t>
            </a:r>
          </a:p>
          <a:p>
            <a:pPr algn="ctr">
              <a:lnSpc>
                <a:spcPts val="9662"/>
              </a:lnSpc>
              <a:spcBef>
                <a:spcPct val="0"/>
              </a:spcBef>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5143500"/>
            <a:ext cx="10287000" cy="20574000"/>
          </a:xfrm>
          <a:custGeom>
            <a:avLst/>
            <a:gdLst/>
            <a:ahLst/>
            <a:cxnLst/>
            <a:rect r="r" b="b" t="t" l="l"/>
            <a:pathLst>
              <a:path h="20574000" w="10287000">
                <a:moveTo>
                  <a:pt x="0" y="0"/>
                </a:moveTo>
                <a:lnTo>
                  <a:pt x="10287000" y="0"/>
                </a:lnTo>
                <a:lnTo>
                  <a:pt x="10287000" y="20574000"/>
                </a:lnTo>
                <a:lnTo>
                  <a:pt x="0" y="20574000"/>
                </a:lnTo>
                <a:lnTo>
                  <a:pt x="0" y="0"/>
                </a:lnTo>
                <a:close/>
              </a:path>
            </a:pathLst>
          </a:custGeom>
          <a:blipFill>
            <a:blip r:embed="rId2">
              <a:alphaModFix amt="6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1143000" y="-1878705"/>
            <a:ext cx="5682118" cy="5031258"/>
          </a:xfrm>
          <a:custGeom>
            <a:avLst/>
            <a:gdLst/>
            <a:ahLst/>
            <a:cxnLst/>
            <a:rect r="r" b="b" t="t" l="l"/>
            <a:pathLst>
              <a:path h="5031258" w="5682118">
                <a:moveTo>
                  <a:pt x="0" y="0"/>
                </a:moveTo>
                <a:lnTo>
                  <a:pt x="5682118" y="0"/>
                </a:lnTo>
                <a:lnTo>
                  <a:pt x="5682118" y="5031258"/>
                </a:lnTo>
                <a:lnTo>
                  <a:pt x="0" y="503125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223632" y="2454646"/>
            <a:ext cx="17259300" cy="7281898"/>
          </a:xfrm>
          <a:prstGeom prst="rect">
            <a:avLst/>
          </a:prstGeom>
        </p:spPr>
        <p:txBody>
          <a:bodyPr anchor="t" rtlCol="false" tIns="0" lIns="0" bIns="0" rIns="0">
            <a:spAutoFit/>
          </a:bodyPr>
          <a:lstStyle/>
          <a:p>
            <a:pPr algn="l">
              <a:lnSpc>
                <a:spcPts val="4460"/>
              </a:lnSpc>
            </a:pPr>
            <a:r>
              <a:rPr lang="en-US" sz="3186">
                <a:solidFill>
                  <a:srgbClr val="334865"/>
                </a:solidFill>
                <a:latin typeface="Comic Sans"/>
                <a:ea typeface="Comic Sans"/>
                <a:cs typeface="Comic Sans"/>
                <a:sym typeface="Comic Sans"/>
              </a:rPr>
              <a:t>•Goal 1 — Build a clea</a:t>
            </a:r>
            <a:r>
              <a:rPr lang="en-US" sz="3186">
                <a:solidFill>
                  <a:srgbClr val="334865"/>
                </a:solidFill>
                <a:latin typeface="Comic Sans"/>
                <a:ea typeface="Comic Sans"/>
                <a:cs typeface="Comic Sans"/>
                <a:sym typeface="Comic Sans"/>
              </a:rPr>
              <a:t>n multi-page frontend using HTML, CSS, and JavaScript with consistent layout using a shared Header and Footer across all pages.</a:t>
            </a:r>
          </a:p>
          <a:p>
            <a:pPr algn="l">
              <a:lnSpc>
                <a:spcPts val="4460"/>
              </a:lnSpc>
            </a:pPr>
            <a:r>
              <a:rPr lang="en-US" sz="3186">
                <a:solidFill>
                  <a:srgbClr val="334865"/>
                </a:solidFill>
                <a:latin typeface="Comic Sans"/>
                <a:ea typeface="Comic Sans"/>
                <a:cs typeface="Comic Sans"/>
                <a:sym typeface="Comic Sans"/>
              </a:rPr>
              <a:t>•Goal 2 — Implement a Node.js HTTP server that handles one GET endpoint to retrieve all activity logs and one POST endpoint to save a new activity entry, with data stored in a server-side in-memory array.</a:t>
            </a:r>
          </a:p>
          <a:p>
            <a:pPr algn="l">
              <a:lnSpc>
                <a:spcPts val="4460"/>
              </a:lnSpc>
            </a:pPr>
            <a:r>
              <a:rPr lang="en-US" sz="3186">
                <a:solidFill>
                  <a:srgbClr val="334865"/>
                </a:solidFill>
                <a:latin typeface="Comic Sans"/>
                <a:ea typeface="Comic Sans"/>
                <a:cs typeface="Comic Sans"/>
                <a:sym typeface="Comic Sans"/>
              </a:rPr>
              <a:t>•Goal 3 — Build a Wellness Dashboard that calculates and displays Total Exercise, Average Sleep, Total Water Intake, and a combined Wellness Score from all stored data.</a:t>
            </a:r>
          </a:p>
          <a:p>
            <a:pPr algn="l">
              <a:lnSpc>
                <a:spcPts val="4460"/>
              </a:lnSpc>
            </a:pPr>
            <a:r>
              <a:rPr lang="en-US" sz="3186">
                <a:solidFill>
                  <a:srgbClr val="334865"/>
                </a:solidFill>
                <a:latin typeface="Comic Sans"/>
                <a:ea typeface="Comic Sans"/>
                <a:cs typeface="Comic Sans"/>
                <a:sym typeface="Comic Sans"/>
              </a:rPr>
              <a:t>•Goal 4 — Allow students to set and view daily wellness goals for exercise, sleep, and water, stored in the browser using localStorage.</a:t>
            </a:r>
          </a:p>
          <a:p>
            <a:pPr algn="l">
              <a:lnSpc>
                <a:spcPts val="4460"/>
              </a:lnSpc>
            </a:pPr>
            <a:r>
              <a:rPr lang="en-US" sz="3186">
                <a:solidFill>
                  <a:srgbClr val="334865"/>
                </a:solidFill>
                <a:latin typeface="Comic Sans"/>
                <a:ea typeface="Comic Sans"/>
                <a:cs typeface="Comic Sans"/>
                <a:sym typeface="Comic Sans"/>
              </a:rPr>
              <a:t>•Goal 5 — Demonstrate a complete client-server interaction where the frontend sends and receives data to the backend using the Fetch API, showing a working full-stack application without a database or cloud deployment.</a:t>
            </a:r>
          </a:p>
          <a:p>
            <a:pPr algn="l">
              <a:lnSpc>
                <a:spcPts val="4460"/>
              </a:lnSpc>
            </a:pPr>
          </a:p>
        </p:txBody>
      </p:sp>
      <p:sp>
        <p:nvSpPr>
          <p:cNvPr name="Freeform 5" id="5"/>
          <p:cNvSpPr/>
          <p:nvPr/>
        </p:nvSpPr>
        <p:spPr>
          <a:xfrm flipH="false" flipV="false" rot="-1074250">
            <a:off x="15460234" y="-606373"/>
            <a:ext cx="2939341" cy="3389177"/>
          </a:xfrm>
          <a:custGeom>
            <a:avLst/>
            <a:gdLst/>
            <a:ahLst/>
            <a:cxnLst/>
            <a:rect r="r" b="b" t="t" l="l"/>
            <a:pathLst>
              <a:path h="3389177" w="2939341">
                <a:moveTo>
                  <a:pt x="0" y="0"/>
                </a:moveTo>
                <a:lnTo>
                  <a:pt x="2939341" y="0"/>
                </a:lnTo>
                <a:lnTo>
                  <a:pt x="2939341" y="3389177"/>
                </a:lnTo>
                <a:lnTo>
                  <a:pt x="0" y="338917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2588218" y="100190"/>
            <a:ext cx="1950900" cy="1976050"/>
          </a:xfrm>
          <a:custGeom>
            <a:avLst/>
            <a:gdLst/>
            <a:ahLst/>
            <a:cxnLst/>
            <a:rect r="r" b="b" t="t" l="l"/>
            <a:pathLst>
              <a:path h="1976050" w="1950900">
                <a:moveTo>
                  <a:pt x="0" y="0"/>
                </a:moveTo>
                <a:lnTo>
                  <a:pt x="1950900" y="0"/>
                </a:lnTo>
                <a:lnTo>
                  <a:pt x="1950900" y="1976050"/>
                </a:lnTo>
                <a:lnTo>
                  <a:pt x="0" y="197605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0" y="-107391"/>
            <a:ext cx="1694345" cy="1572721"/>
          </a:xfrm>
          <a:custGeom>
            <a:avLst/>
            <a:gdLst/>
            <a:ahLst/>
            <a:cxnLst/>
            <a:rect r="r" b="b" t="t" l="l"/>
            <a:pathLst>
              <a:path h="1572721" w="1694345">
                <a:moveTo>
                  <a:pt x="0" y="0"/>
                </a:moveTo>
                <a:lnTo>
                  <a:pt x="1694345" y="0"/>
                </a:lnTo>
                <a:lnTo>
                  <a:pt x="1694345" y="1572721"/>
                </a:lnTo>
                <a:lnTo>
                  <a:pt x="0" y="1572721"/>
                </a:lnTo>
                <a:lnTo>
                  <a:pt x="0" y="0"/>
                </a:lnTo>
                <a:close/>
              </a:path>
            </a:pathLst>
          </a:custGeom>
          <a:blipFill>
            <a:blip r:embed="rId10"/>
            <a:stretch>
              <a:fillRect l="0" t="0" r="0" b="0"/>
            </a:stretch>
          </a:blipFill>
        </p:spPr>
      </p:sp>
      <p:sp>
        <p:nvSpPr>
          <p:cNvPr name="TextBox 8" id="8"/>
          <p:cNvSpPr txBox="true"/>
          <p:nvPr/>
        </p:nvSpPr>
        <p:spPr>
          <a:xfrm rot="0">
            <a:off x="4933194" y="854419"/>
            <a:ext cx="9113473" cy="1221821"/>
          </a:xfrm>
          <a:prstGeom prst="rect">
            <a:avLst/>
          </a:prstGeom>
        </p:spPr>
        <p:txBody>
          <a:bodyPr anchor="t" rtlCol="false" tIns="0" lIns="0" bIns="0" rIns="0">
            <a:spAutoFit/>
          </a:bodyPr>
          <a:lstStyle/>
          <a:p>
            <a:pPr algn="l">
              <a:lnSpc>
                <a:spcPts val="9662"/>
              </a:lnSpc>
              <a:spcBef>
                <a:spcPct val="0"/>
              </a:spcBef>
            </a:pPr>
            <a:r>
              <a:rPr lang="en-US" sz="8051">
                <a:solidFill>
                  <a:srgbClr val="334865"/>
                </a:solidFill>
                <a:latin typeface="Knewave"/>
                <a:ea typeface="Knewave"/>
                <a:cs typeface="Knewave"/>
                <a:sym typeface="Knewave"/>
              </a:rPr>
              <a:t>G</a:t>
            </a:r>
            <a:r>
              <a:rPr lang="en-US" sz="8051">
                <a:solidFill>
                  <a:srgbClr val="334865"/>
                </a:solidFill>
                <a:latin typeface="Knewave"/>
                <a:ea typeface="Knewave"/>
                <a:cs typeface="Knewave"/>
                <a:sym typeface="Knewave"/>
              </a:rPr>
              <a:t>oals/ Objectives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5143500"/>
            <a:ext cx="10287000" cy="20574000"/>
          </a:xfrm>
          <a:custGeom>
            <a:avLst/>
            <a:gdLst/>
            <a:ahLst/>
            <a:cxnLst/>
            <a:rect r="r" b="b" t="t" l="l"/>
            <a:pathLst>
              <a:path h="20574000" w="10287000">
                <a:moveTo>
                  <a:pt x="0" y="0"/>
                </a:moveTo>
                <a:lnTo>
                  <a:pt x="10287000" y="0"/>
                </a:lnTo>
                <a:lnTo>
                  <a:pt x="10287000" y="20574000"/>
                </a:lnTo>
                <a:lnTo>
                  <a:pt x="0" y="20574000"/>
                </a:lnTo>
                <a:lnTo>
                  <a:pt x="0" y="0"/>
                </a:lnTo>
                <a:close/>
              </a:path>
            </a:pathLst>
          </a:custGeom>
          <a:blipFill>
            <a:blip r:embed="rId2">
              <a:alphaModFix amt="6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631468" y="5255742"/>
            <a:ext cx="5682118" cy="5031258"/>
          </a:xfrm>
          <a:custGeom>
            <a:avLst/>
            <a:gdLst/>
            <a:ahLst/>
            <a:cxnLst/>
            <a:rect r="r" b="b" t="t" l="l"/>
            <a:pathLst>
              <a:path h="5031258" w="5682118">
                <a:moveTo>
                  <a:pt x="0" y="0"/>
                </a:moveTo>
                <a:lnTo>
                  <a:pt x="5682118" y="0"/>
                </a:lnTo>
                <a:lnTo>
                  <a:pt x="5682118" y="5031258"/>
                </a:lnTo>
                <a:lnTo>
                  <a:pt x="0" y="503125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2308431">
            <a:off x="16704720" y="1095621"/>
            <a:ext cx="2570307" cy="4857968"/>
          </a:xfrm>
          <a:custGeom>
            <a:avLst/>
            <a:gdLst/>
            <a:ahLst/>
            <a:cxnLst/>
            <a:rect r="r" b="b" t="t" l="l"/>
            <a:pathLst>
              <a:path h="4857968" w="2570307">
                <a:moveTo>
                  <a:pt x="0" y="0"/>
                </a:moveTo>
                <a:lnTo>
                  <a:pt x="2570307" y="0"/>
                </a:lnTo>
                <a:lnTo>
                  <a:pt x="2570307" y="4857968"/>
                </a:lnTo>
                <a:lnTo>
                  <a:pt x="0" y="485796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4371316" y="5713971"/>
            <a:ext cx="3404062" cy="4114800"/>
          </a:xfrm>
          <a:custGeom>
            <a:avLst/>
            <a:gdLst/>
            <a:ahLst/>
            <a:cxnLst/>
            <a:rect r="r" b="b" t="t" l="l"/>
            <a:pathLst>
              <a:path h="4114800" w="3404062">
                <a:moveTo>
                  <a:pt x="0" y="0"/>
                </a:moveTo>
                <a:lnTo>
                  <a:pt x="3404062" y="0"/>
                </a:lnTo>
                <a:lnTo>
                  <a:pt x="3404062"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6" id="6"/>
          <p:cNvSpPr txBox="true"/>
          <p:nvPr/>
        </p:nvSpPr>
        <p:spPr>
          <a:xfrm rot="0">
            <a:off x="7352497" y="2011821"/>
            <a:ext cx="7018818" cy="6720558"/>
          </a:xfrm>
          <a:prstGeom prst="rect">
            <a:avLst/>
          </a:prstGeom>
        </p:spPr>
        <p:txBody>
          <a:bodyPr anchor="t" rtlCol="false" tIns="0" lIns="0" bIns="0" rIns="0">
            <a:spAutoFit/>
          </a:bodyPr>
          <a:lstStyle/>
          <a:p>
            <a:pPr algn="just">
              <a:lnSpc>
                <a:spcPts val="5440"/>
              </a:lnSpc>
            </a:pPr>
            <a:r>
              <a:rPr lang="en-US" sz="3886" b="true">
                <a:solidFill>
                  <a:srgbClr val="334865"/>
                </a:solidFill>
                <a:latin typeface="Comic Sans Bold"/>
                <a:ea typeface="Comic Sans Bold"/>
                <a:cs typeface="Comic Sans Bold"/>
                <a:sym typeface="Comic Sans Bold"/>
              </a:rPr>
              <a:t>Out of Scope</a:t>
            </a:r>
          </a:p>
          <a:p>
            <a:pPr algn="just" marL="839005" indent="-419502" lvl="1">
              <a:lnSpc>
                <a:spcPts val="5440"/>
              </a:lnSpc>
              <a:buFont typeface="Arial"/>
              <a:buChar char="•"/>
            </a:pPr>
            <a:r>
              <a:rPr lang="en-US" sz="3886">
                <a:solidFill>
                  <a:srgbClr val="334865"/>
                </a:solidFill>
                <a:latin typeface="Comic Sans"/>
                <a:ea typeface="Comic Sans"/>
                <a:cs typeface="Comic Sans"/>
                <a:sym typeface="Comic Sans"/>
              </a:rPr>
              <a:t>Au</a:t>
            </a:r>
            <a:r>
              <a:rPr lang="en-US" sz="3886">
                <a:solidFill>
                  <a:srgbClr val="334865"/>
                </a:solidFill>
                <a:latin typeface="Comic Sans"/>
                <a:ea typeface="Comic Sans"/>
                <a:cs typeface="Comic Sans"/>
                <a:sym typeface="Comic Sans"/>
              </a:rPr>
              <a:t>thent</a:t>
            </a:r>
            <a:r>
              <a:rPr lang="en-US" sz="3886">
                <a:solidFill>
                  <a:srgbClr val="334865"/>
                </a:solidFill>
                <a:latin typeface="Comic Sans"/>
                <a:ea typeface="Comic Sans"/>
                <a:cs typeface="Comic Sans"/>
                <a:sym typeface="Comic Sans"/>
              </a:rPr>
              <a:t>ication and session management.</a:t>
            </a:r>
          </a:p>
          <a:p>
            <a:pPr algn="just" marL="839005" indent="-419502" lvl="1">
              <a:lnSpc>
                <a:spcPts val="5440"/>
              </a:lnSpc>
              <a:buFont typeface="Arial"/>
              <a:buChar char="•"/>
            </a:pPr>
            <a:r>
              <a:rPr lang="en-US" sz="3886">
                <a:solidFill>
                  <a:srgbClr val="334865"/>
                </a:solidFill>
                <a:latin typeface="Comic Sans"/>
                <a:ea typeface="Comic Sans"/>
                <a:cs typeface="Comic Sans"/>
                <a:sym typeface="Comic Sans"/>
              </a:rPr>
              <a:t>Database or persistent storage.</a:t>
            </a:r>
          </a:p>
          <a:p>
            <a:pPr algn="just" marL="839005" indent="-419502" lvl="1">
              <a:lnSpc>
                <a:spcPts val="5440"/>
              </a:lnSpc>
              <a:buFont typeface="Arial"/>
              <a:buChar char="•"/>
            </a:pPr>
            <a:r>
              <a:rPr lang="en-US" sz="3886">
                <a:solidFill>
                  <a:srgbClr val="334865"/>
                </a:solidFill>
                <a:latin typeface="Comic Sans"/>
                <a:ea typeface="Comic Sans"/>
                <a:cs typeface="Comic Sans"/>
                <a:sym typeface="Comic Sans"/>
              </a:rPr>
              <a:t>Edit and delete features.</a:t>
            </a:r>
          </a:p>
          <a:p>
            <a:pPr algn="just" marL="839005" indent="-419502" lvl="1">
              <a:lnSpc>
                <a:spcPts val="5440"/>
              </a:lnSpc>
              <a:buFont typeface="Arial"/>
              <a:buChar char="•"/>
            </a:pPr>
            <a:r>
              <a:rPr lang="en-US" sz="3886">
                <a:solidFill>
                  <a:srgbClr val="334865"/>
                </a:solidFill>
                <a:latin typeface="Comic Sans"/>
                <a:ea typeface="Comic Sans"/>
                <a:cs typeface="Comic Sans"/>
                <a:sym typeface="Comic Sans"/>
              </a:rPr>
              <a:t>C</a:t>
            </a:r>
            <a:r>
              <a:rPr lang="en-US" sz="3886">
                <a:solidFill>
                  <a:srgbClr val="334865"/>
                </a:solidFill>
                <a:latin typeface="Comic Sans"/>
                <a:ea typeface="Comic Sans"/>
                <a:cs typeface="Comic Sans"/>
                <a:sym typeface="Comic Sans"/>
              </a:rPr>
              <a:t>loud deployment.</a:t>
            </a:r>
          </a:p>
          <a:p>
            <a:pPr algn="just" marL="839005" indent="-419502" lvl="1">
              <a:lnSpc>
                <a:spcPts val="5440"/>
              </a:lnSpc>
              <a:buFont typeface="Arial"/>
              <a:buChar char="•"/>
            </a:pPr>
            <a:r>
              <a:rPr lang="en-US" sz="3886">
                <a:solidFill>
                  <a:srgbClr val="334865"/>
                </a:solidFill>
                <a:latin typeface="Comic Sans"/>
                <a:ea typeface="Comic Sans"/>
                <a:cs typeface="Comic Sans"/>
                <a:sym typeface="Comic Sans"/>
              </a:rPr>
              <a:t>Mobi</a:t>
            </a:r>
            <a:r>
              <a:rPr lang="en-US" sz="3886">
                <a:solidFill>
                  <a:srgbClr val="334865"/>
                </a:solidFill>
                <a:latin typeface="Comic Sans"/>
                <a:ea typeface="Comic Sans"/>
                <a:cs typeface="Comic Sans"/>
                <a:sym typeface="Comic Sans"/>
              </a:rPr>
              <a:t>le app or device integration.</a:t>
            </a:r>
          </a:p>
          <a:p>
            <a:pPr algn="just">
              <a:lnSpc>
                <a:spcPts val="4460"/>
              </a:lnSpc>
            </a:pPr>
          </a:p>
        </p:txBody>
      </p:sp>
      <p:sp>
        <p:nvSpPr>
          <p:cNvPr name="Freeform 7" id="7"/>
          <p:cNvSpPr/>
          <p:nvPr/>
        </p:nvSpPr>
        <p:spPr>
          <a:xfrm flipH="false" flipV="false" rot="0">
            <a:off x="0" y="0"/>
            <a:ext cx="1531946" cy="1421980"/>
          </a:xfrm>
          <a:custGeom>
            <a:avLst/>
            <a:gdLst/>
            <a:ahLst/>
            <a:cxnLst/>
            <a:rect r="r" b="b" t="t" l="l"/>
            <a:pathLst>
              <a:path h="1421980" w="1531946">
                <a:moveTo>
                  <a:pt x="0" y="0"/>
                </a:moveTo>
                <a:lnTo>
                  <a:pt x="1531946" y="0"/>
                </a:lnTo>
                <a:lnTo>
                  <a:pt x="1531946" y="1421980"/>
                </a:lnTo>
                <a:lnTo>
                  <a:pt x="0" y="1421980"/>
                </a:lnTo>
                <a:lnTo>
                  <a:pt x="0" y="0"/>
                </a:lnTo>
                <a:close/>
              </a:path>
            </a:pathLst>
          </a:custGeom>
          <a:blipFill>
            <a:blip r:embed="rId10"/>
            <a:stretch>
              <a:fillRect l="0" t="0" r="0" b="0"/>
            </a:stretch>
          </a:blipFill>
        </p:spPr>
      </p:sp>
      <p:sp>
        <p:nvSpPr>
          <p:cNvPr name="TextBox 8" id="8"/>
          <p:cNvSpPr txBox="true"/>
          <p:nvPr/>
        </p:nvSpPr>
        <p:spPr>
          <a:xfrm rot="0">
            <a:off x="3017258" y="212494"/>
            <a:ext cx="6315426" cy="1221821"/>
          </a:xfrm>
          <a:prstGeom prst="rect">
            <a:avLst/>
          </a:prstGeom>
        </p:spPr>
        <p:txBody>
          <a:bodyPr anchor="t" rtlCol="false" tIns="0" lIns="0" bIns="0" rIns="0">
            <a:spAutoFit/>
          </a:bodyPr>
          <a:lstStyle/>
          <a:p>
            <a:pPr algn="l">
              <a:lnSpc>
                <a:spcPts val="9662"/>
              </a:lnSpc>
              <a:spcBef>
                <a:spcPct val="0"/>
              </a:spcBef>
            </a:pPr>
            <a:r>
              <a:rPr lang="en-US" sz="8051">
                <a:solidFill>
                  <a:srgbClr val="334865"/>
                </a:solidFill>
                <a:latin typeface="Knewave"/>
                <a:ea typeface="Knewave"/>
                <a:cs typeface="Knewave"/>
                <a:sym typeface="Knewave"/>
              </a:rPr>
              <a:t>S</a:t>
            </a:r>
            <a:r>
              <a:rPr lang="en-US" sz="8051">
                <a:solidFill>
                  <a:srgbClr val="334865"/>
                </a:solidFill>
                <a:latin typeface="Knewave"/>
                <a:ea typeface="Knewave"/>
                <a:cs typeface="Knewave"/>
                <a:sym typeface="Knewave"/>
              </a:rPr>
              <a:t>cope</a:t>
            </a:r>
          </a:p>
        </p:txBody>
      </p:sp>
      <p:sp>
        <p:nvSpPr>
          <p:cNvPr name="TextBox 9" id="9"/>
          <p:cNvSpPr txBox="true"/>
          <p:nvPr/>
        </p:nvSpPr>
        <p:spPr>
          <a:xfrm rot="0">
            <a:off x="333679" y="2011821"/>
            <a:ext cx="6851044" cy="6187158"/>
          </a:xfrm>
          <a:prstGeom prst="rect">
            <a:avLst/>
          </a:prstGeom>
        </p:spPr>
        <p:txBody>
          <a:bodyPr anchor="t" rtlCol="false" tIns="0" lIns="0" bIns="0" rIns="0">
            <a:spAutoFit/>
          </a:bodyPr>
          <a:lstStyle/>
          <a:p>
            <a:pPr algn="just">
              <a:lnSpc>
                <a:spcPts val="5440"/>
              </a:lnSpc>
            </a:pPr>
            <a:r>
              <a:rPr lang="en-US" sz="3886" b="true">
                <a:solidFill>
                  <a:srgbClr val="334865"/>
                </a:solidFill>
                <a:latin typeface="Comic Sans Bold"/>
                <a:ea typeface="Comic Sans Bold"/>
                <a:cs typeface="Comic Sans Bold"/>
                <a:sym typeface="Comic Sans Bold"/>
              </a:rPr>
              <a:t>In Scope</a:t>
            </a:r>
          </a:p>
          <a:p>
            <a:pPr algn="just" marL="752647" indent="-376323" lvl="1">
              <a:lnSpc>
                <a:spcPts val="4880"/>
              </a:lnSpc>
              <a:buFont typeface="Arial"/>
              <a:buChar char="•"/>
            </a:pPr>
            <a:r>
              <a:rPr lang="en-US" sz="3486">
                <a:solidFill>
                  <a:srgbClr val="334865"/>
                </a:solidFill>
                <a:latin typeface="Comic Sans"/>
                <a:ea typeface="Comic Sans"/>
                <a:cs typeface="Comic Sans"/>
                <a:sym typeface="Comic Sans"/>
              </a:rPr>
              <a:t>Frontend u</a:t>
            </a:r>
            <a:r>
              <a:rPr lang="en-US" sz="3486">
                <a:solidFill>
                  <a:srgbClr val="334865"/>
                </a:solidFill>
                <a:latin typeface="Comic Sans"/>
                <a:ea typeface="Comic Sans"/>
                <a:cs typeface="Comic Sans"/>
                <a:sym typeface="Comic Sans"/>
              </a:rPr>
              <a:t>sing HTML, CSS, and JavaScript.</a:t>
            </a:r>
          </a:p>
          <a:p>
            <a:pPr algn="just" marL="752647" indent="-376323" lvl="1">
              <a:lnSpc>
                <a:spcPts val="4880"/>
              </a:lnSpc>
              <a:buFont typeface="Arial"/>
              <a:buChar char="•"/>
            </a:pPr>
            <a:r>
              <a:rPr lang="en-US" sz="3486">
                <a:solidFill>
                  <a:srgbClr val="334865"/>
                </a:solidFill>
                <a:latin typeface="Comic Sans"/>
                <a:ea typeface="Comic Sans"/>
                <a:cs typeface="Comic Sans"/>
                <a:sym typeface="Comic Sans"/>
              </a:rPr>
              <a:t>Backend using Node.js HTTP server on port 8083.</a:t>
            </a:r>
          </a:p>
          <a:p>
            <a:pPr algn="just" marL="752647" indent="-376323" lvl="1">
              <a:lnSpc>
                <a:spcPts val="4880"/>
              </a:lnSpc>
              <a:buFont typeface="Arial"/>
              <a:buChar char="•"/>
            </a:pPr>
            <a:r>
              <a:rPr lang="en-US" sz="3486">
                <a:solidFill>
                  <a:srgbClr val="334865"/>
                </a:solidFill>
                <a:latin typeface="Comic Sans"/>
                <a:ea typeface="Comic Sans"/>
                <a:cs typeface="Comic Sans"/>
                <a:sym typeface="Comic Sans"/>
              </a:rPr>
              <a:t>One GET and one POST API endpoint.</a:t>
            </a:r>
          </a:p>
          <a:p>
            <a:pPr algn="just" marL="752647" indent="-376323" lvl="1">
              <a:lnSpc>
                <a:spcPts val="4880"/>
              </a:lnSpc>
              <a:buFont typeface="Arial"/>
              <a:buChar char="•"/>
            </a:pPr>
            <a:r>
              <a:rPr lang="en-US" sz="3486">
                <a:solidFill>
                  <a:srgbClr val="334865"/>
                </a:solidFill>
                <a:latin typeface="Comic Sans"/>
                <a:ea typeface="Comic Sans"/>
                <a:cs typeface="Comic Sans"/>
                <a:sym typeface="Comic Sans"/>
              </a:rPr>
              <a:t>Local execution only.</a:t>
            </a:r>
          </a:p>
          <a:p>
            <a:pPr algn="just" marL="752647" indent="-376323" lvl="1">
              <a:lnSpc>
                <a:spcPts val="4880"/>
              </a:lnSpc>
              <a:buFont typeface="Arial"/>
              <a:buChar char="•"/>
            </a:pPr>
            <a:r>
              <a:rPr lang="en-US" sz="3486">
                <a:solidFill>
                  <a:srgbClr val="334865"/>
                </a:solidFill>
                <a:latin typeface="Comic Sans"/>
                <a:ea typeface="Comic Sans"/>
                <a:cs typeface="Comic Sans"/>
                <a:sym typeface="Comic Sans"/>
              </a:rPr>
              <a:t>Wellness Score calculation.</a:t>
            </a:r>
          </a:p>
          <a:p>
            <a:pPr algn="just">
              <a:lnSpc>
                <a:spcPts val="4460"/>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5143500"/>
            <a:ext cx="10287000" cy="20574000"/>
          </a:xfrm>
          <a:custGeom>
            <a:avLst/>
            <a:gdLst/>
            <a:ahLst/>
            <a:cxnLst/>
            <a:rect r="r" b="b" t="t" l="l"/>
            <a:pathLst>
              <a:path h="20574000" w="10287000">
                <a:moveTo>
                  <a:pt x="0" y="0"/>
                </a:moveTo>
                <a:lnTo>
                  <a:pt x="10287000" y="0"/>
                </a:lnTo>
                <a:lnTo>
                  <a:pt x="10287000" y="20574000"/>
                </a:lnTo>
                <a:lnTo>
                  <a:pt x="0" y="20574000"/>
                </a:lnTo>
                <a:lnTo>
                  <a:pt x="0" y="0"/>
                </a:lnTo>
                <a:close/>
              </a:path>
            </a:pathLst>
          </a:custGeom>
          <a:blipFill>
            <a:blip r:embed="rId2">
              <a:alphaModFix amt="6999"/>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3755373" y="0"/>
            <a:ext cx="9120984" cy="1219200"/>
          </a:xfrm>
          <a:prstGeom prst="rect">
            <a:avLst/>
          </a:prstGeom>
        </p:spPr>
        <p:txBody>
          <a:bodyPr anchor="t" rtlCol="false" tIns="0" lIns="0" bIns="0" rIns="0">
            <a:spAutoFit/>
          </a:bodyPr>
          <a:lstStyle/>
          <a:p>
            <a:pPr algn="ctr">
              <a:lnSpc>
                <a:spcPts val="9662"/>
              </a:lnSpc>
              <a:spcBef>
                <a:spcPct val="0"/>
              </a:spcBef>
            </a:pPr>
            <a:r>
              <a:rPr lang="en-US" sz="8051">
                <a:solidFill>
                  <a:srgbClr val="334865"/>
                </a:solidFill>
                <a:latin typeface="Knewave"/>
                <a:ea typeface="Knewave"/>
                <a:cs typeface="Knewave"/>
                <a:sym typeface="Knewave"/>
              </a:rPr>
              <a:t>User</a:t>
            </a:r>
            <a:r>
              <a:rPr lang="en-US" sz="8051">
                <a:solidFill>
                  <a:srgbClr val="334865"/>
                </a:solidFill>
                <a:latin typeface="Knewave"/>
                <a:ea typeface="Knewave"/>
                <a:cs typeface="Knewave"/>
                <a:sym typeface="Knewave"/>
              </a:rPr>
              <a:t>s</a:t>
            </a:r>
          </a:p>
        </p:txBody>
      </p:sp>
      <p:sp>
        <p:nvSpPr>
          <p:cNvPr name="TextBox 4" id="4"/>
          <p:cNvSpPr txBox="true"/>
          <p:nvPr/>
        </p:nvSpPr>
        <p:spPr>
          <a:xfrm rot="0">
            <a:off x="198341" y="3146781"/>
            <a:ext cx="17540677" cy="5540728"/>
          </a:xfrm>
          <a:prstGeom prst="rect">
            <a:avLst/>
          </a:prstGeom>
        </p:spPr>
        <p:txBody>
          <a:bodyPr anchor="t" rtlCol="false" tIns="0" lIns="0" bIns="0" rIns="0">
            <a:spAutoFit/>
          </a:bodyPr>
          <a:lstStyle/>
          <a:p>
            <a:pPr algn="just" marL="752647" indent="-376323" lvl="1">
              <a:lnSpc>
                <a:spcPts val="4880"/>
              </a:lnSpc>
              <a:buFont typeface="Arial"/>
              <a:buChar char="•"/>
            </a:pPr>
            <a:r>
              <a:rPr lang="en-US" sz="3486">
                <a:solidFill>
                  <a:srgbClr val="334865"/>
                </a:solidFill>
                <a:latin typeface="Comic Sans"/>
                <a:ea typeface="Comic Sans"/>
                <a:cs typeface="Comic Sans"/>
                <a:sym typeface="Comic Sans"/>
              </a:rPr>
              <a:t>College students managing health during academic life.</a:t>
            </a:r>
          </a:p>
          <a:p>
            <a:pPr algn="just" marL="752647" indent="-376323" lvl="1">
              <a:lnSpc>
                <a:spcPts val="4880"/>
              </a:lnSpc>
              <a:buFont typeface="Arial"/>
              <a:buChar char="•"/>
            </a:pPr>
            <a:r>
              <a:rPr lang="en-US" sz="3486">
                <a:solidFill>
                  <a:srgbClr val="334865"/>
                </a:solidFill>
                <a:latin typeface="Comic Sans"/>
                <a:ea typeface="Comic Sans"/>
                <a:cs typeface="Comic Sans"/>
                <a:sym typeface="Comic Sans"/>
              </a:rPr>
              <a:t>Students with specific daily wellness goals.</a:t>
            </a:r>
          </a:p>
          <a:p>
            <a:pPr algn="just" marL="752647" indent="-376323" lvl="1">
              <a:lnSpc>
                <a:spcPts val="4880"/>
              </a:lnSpc>
              <a:buFont typeface="Arial"/>
              <a:buChar char="•"/>
            </a:pPr>
            <a:r>
              <a:rPr lang="en-US" sz="3486">
                <a:solidFill>
                  <a:srgbClr val="334865"/>
                </a:solidFill>
                <a:latin typeface="Comic Sans"/>
                <a:ea typeface="Comic Sans"/>
                <a:cs typeface="Comic Sans"/>
                <a:sym typeface="Comic Sans"/>
              </a:rPr>
              <a:t>Students who want to track mood and stress patterns.</a:t>
            </a:r>
          </a:p>
          <a:p>
            <a:pPr algn="just" marL="752647" indent="-376323" lvl="1">
              <a:lnSpc>
                <a:spcPts val="4880"/>
              </a:lnSpc>
              <a:buFont typeface="Arial"/>
              <a:buChar char="•"/>
            </a:pPr>
            <a:r>
              <a:rPr lang="en-US" sz="3486">
                <a:solidFill>
                  <a:srgbClr val="334865"/>
                </a:solidFill>
                <a:latin typeface="Comic Sans"/>
                <a:ea typeface="Comic Sans"/>
                <a:cs typeface="Comic Sans"/>
                <a:sym typeface="Comic Sans"/>
              </a:rPr>
              <a:t>Academic reviewers evaluating the project's frontend and backend architecture.</a:t>
            </a:r>
          </a:p>
          <a:p>
            <a:pPr algn="just" marL="752647" indent="-376323" lvl="1">
              <a:lnSpc>
                <a:spcPts val="4880"/>
              </a:lnSpc>
              <a:buFont typeface="Arial"/>
              <a:buChar char="•"/>
            </a:pPr>
            <a:r>
              <a:rPr lang="en-US" sz="3486">
                <a:solidFill>
                  <a:srgbClr val="334865"/>
                </a:solidFill>
                <a:latin typeface="Comic Sans"/>
                <a:ea typeface="Comic Sans"/>
                <a:cs typeface="Comic Sans"/>
                <a:sym typeface="Comic Sans"/>
              </a:rPr>
              <a:t>First-time users with no technical background who need a simple health tracking tool.</a:t>
            </a:r>
          </a:p>
          <a:p>
            <a:pPr algn="just" marL="752647" indent="-376323" lvl="1">
              <a:lnSpc>
                <a:spcPts val="4880"/>
              </a:lnSpc>
              <a:buFont typeface="Arial"/>
              <a:buChar char="•"/>
            </a:pPr>
            <a:r>
              <a:rPr lang="en-US" sz="3486">
                <a:solidFill>
                  <a:srgbClr val="334865"/>
                </a:solidFill>
                <a:latin typeface="Comic Sans"/>
                <a:ea typeface="Comic Sans"/>
                <a:cs typeface="Comic Sans"/>
                <a:sym typeface="Comic Sans"/>
              </a:rPr>
              <a:t>Students returning from illness or low-activity periods who want to rebuild healthy routines.</a:t>
            </a:r>
          </a:p>
          <a:p>
            <a:pPr algn="just">
              <a:lnSpc>
                <a:spcPts val="4880"/>
              </a:lnSpc>
            </a:pPr>
          </a:p>
        </p:txBody>
      </p:sp>
      <p:sp>
        <p:nvSpPr>
          <p:cNvPr name="Freeform 5" id="5"/>
          <p:cNvSpPr/>
          <p:nvPr/>
        </p:nvSpPr>
        <p:spPr>
          <a:xfrm flipH="false" flipV="false" rot="0">
            <a:off x="12443729" y="174064"/>
            <a:ext cx="1350259" cy="1350259"/>
          </a:xfrm>
          <a:custGeom>
            <a:avLst/>
            <a:gdLst/>
            <a:ahLst/>
            <a:cxnLst/>
            <a:rect r="r" b="b" t="t" l="l"/>
            <a:pathLst>
              <a:path h="1350259" w="1350259">
                <a:moveTo>
                  <a:pt x="0" y="0"/>
                </a:moveTo>
                <a:lnTo>
                  <a:pt x="1350259" y="0"/>
                </a:lnTo>
                <a:lnTo>
                  <a:pt x="1350259" y="1350259"/>
                </a:lnTo>
                <a:lnTo>
                  <a:pt x="0" y="13502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4366089" y="1327336"/>
            <a:ext cx="675129" cy="675129"/>
          </a:xfrm>
          <a:custGeom>
            <a:avLst/>
            <a:gdLst/>
            <a:ahLst/>
            <a:cxnLst/>
            <a:rect r="r" b="b" t="t" l="l"/>
            <a:pathLst>
              <a:path h="675129" w="675129">
                <a:moveTo>
                  <a:pt x="0" y="0"/>
                </a:moveTo>
                <a:lnTo>
                  <a:pt x="675130" y="0"/>
                </a:lnTo>
                <a:lnTo>
                  <a:pt x="675130" y="675130"/>
                </a:lnTo>
                <a:lnTo>
                  <a:pt x="0" y="6751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1593352">
            <a:off x="16272190" y="-147357"/>
            <a:ext cx="1088592" cy="2949387"/>
          </a:xfrm>
          <a:custGeom>
            <a:avLst/>
            <a:gdLst/>
            <a:ahLst/>
            <a:cxnLst/>
            <a:rect r="r" b="b" t="t" l="l"/>
            <a:pathLst>
              <a:path h="2949387" w="1088592">
                <a:moveTo>
                  <a:pt x="0" y="0"/>
                </a:moveTo>
                <a:lnTo>
                  <a:pt x="1088592" y="0"/>
                </a:lnTo>
                <a:lnTo>
                  <a:pt x="1088592" y="2949387"/>
                </a:lnTo>
                <a:lnTo>
                  <a:pt x="0" y="294938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0" y="0"/>
            <a:ext cx="1793653" cy="1664901"/>
          </a:xfrm>
          <a:custGeom>
            <a:avLst/>
            <a:gdLst/>
            <a:ahLst/>
            <a:cxnLst/>
            <a:rect r="r" b="b" t="t" l="l"/>
            <a:pathLst>
              <a:path h="1664901" w="1793653">
                <a:moveTo>
                  <a:pt x="0" y="0"/>
                </a:moveTo>
                <a:lnTo>
                  <a:pt x="1793653" y="0"/>
                </a:lnTo>
                <a:lnTo>
                  <a:pt x="1793653" y="1664901"/>
                </a:lnTo>
                <a:lnTo>
                  <a:pt x="0" y="1664901"/>
                </a:lnTo>
                <a:lnTo>
                  <a:pt x="0" y="0"/>
                </a:lnTo>
                <a:close/>
              </a:path>
            </a:pathLst>
          </a:custGeom>
          <a:blipFill>
            <a:blip r:embed="rId8"/>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5143500"/>
            <a:ext cx="10287000" cy="20574000"/>
          </a:xfrm>
          <a:custGeom>
            <a:avLst/>
            <a:gdLst/>
            <a:ahLst/>
            <a:cxnLst/>
            <a:rect r="r" b="b" t="t" l="l"/>
            <a:pathLst>
              <a:path h="20574000" w="10287000">
                <a:moveTo>
                  <a:pt x="0" y="0"/>
                </a:moveTo>
                <a:lnTo>
                  <a:pt x="10287000" y="0"/>
                </a:lnTo>
                <a:lnTo>
                  <a:pt x="10287000" y="20574000"/>
                </a:lnTo>
                <a:lnTo>
                  <a:pt x="0" y="20574000"/>
                </a:lnTo>
                <a:lnTo>
                  <a:pt x="0" y="0"/>
                </a:lnTo>
                <a:close/>
              </a:path>
            </a:pathLst>
          </a:custGeom>
          <a:blipFill>
            <a:blip r:embed="rId2">
              <a:alphaModFix amt="6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1143000" y="-1631354"/>
            <a:ext cx="5682118" cy="5031258"/>
          </a:xfrm>
          <a:custGeom>
            <a:avLst/>
            <a:gdLst/>
            <a:ahLst/>
            <a:cxnLst/>
            <a:rect r="r" b="b" t="t" l="l"/>
            <a:pathLst>
              <a:path h="5031258" w="5682118">
                <a:moveTo>
                  <a:pt x="0" y="0"/>
                </a:moveTo>
                <a:lnTo>
                  <a:pt x="5682118" y="0"/>
                </a:lnTo>
                <a:lnTo>
                  <a:pt x="5682118" y="5031258"/>
                </a:lnTo>
                <a:lnTo>
                  <a:pt x="0" y="503125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387101" y="1826638"/>
            <a:ext cx="15321091" cy="8117558"/>
          </a:xfrm>
          <a:prstGeom prst="rect">
            <a:avLst/>
          </a:prstGeom>
        </p:spPr>
        <p:txBody>
          <a:bodyPr anchor="t" rtlCol="false" tIns="0" lIns="0" bIns="0" rIns="0">
            <a:spAutoFit/>
          </a:bodyPr>
          <a:lstStyle/>
          <a:p>
            <a:pPr algn="l">
              <a:lnSpc>
                <a:spcPts val="4600"/>
              </a:lnSpc>
            </a:pPr>
          </a:p>
          <a:p>
            <a:pPr algn="l" marL="709468" indent="-354734" lvl="1">
              <a:lnSpc>
                <a:spcPts val="4600"/>
              </a:lnSpc>
              <a:buFont typeface="Arial"/>
              <a:buChar char="•"/>
            </a:pPr>
            <a:r>
              <a:rPr lang="en-US" sz="3286">
                <a:solidFill>
                  <a:srgbClr val="334865"/>
                </a:solidFill>
                <a:latin typeface="Comic Sans"/>
                <a:ea typeface="Comic Sans"/>
                <a:cs typeface="Comic Sans"/>
                <a:sym typeface="Comic Sans"/>
              </a:rPr>
              <a:t>Register a new a</a:t>
            </a:r>
            <a:r>
              <a:rPr lang="en-US" sz="3286">
                <a:solidFill>
                  <a:srgbClr val="334865"/>
                </a:solidFill>
                <a:latin typeface="Comic Sans"/>
                <a:ea typeface="Comic Sans"/>
                <a:cs typeface="Comic Sans"/>
                <a:sym typeface="Comic Sans"/>
              </a:rPr>
              <a:t>ccount with username, email, and password.</a:t>
            </a:r>
          </a:p>
          <a:p>
            <a:pPr algn="l" marL="709468" indent="-354734" lvl="1">
              <a:lnSpc>
                <a:spcPts val="4600"/>
              </a:lnSpc>
              <a:buFont typeface="Arial"/>
              <a:buChar char="•"/>
            </a:pPr>
            <a:r>
              <a:rPr lang="en-US" sz="3286">
                <a:solidFill>
                  <a:srgbClr val="334865"/>
                </a:solidFill>
                <a:latin typeface="Comic Sans"/>
                <a:ea typeface="Comic Sans"/>
                <a:cs typeface="Comic Sans"/>
                <a:sym typeface="Comic Sans"/>
              </a:rPr>
              <a:t>Log in with existing credentials and be redirected to the Dashboard.</a:t>
            </a:r>
          </a:p>
          <a:p>
            <a:pPr algn="l" marL="709468" indent="-354734" lvl="1">
              <a:lnSpc>
                <a:spcPts val="4600"/>
              </a:lnSpc>
              <a:buFont typeface="Arial"/>
              <a:buChar char="•"/>
            </a:pPr>
            <a:r>
              <a:rPr lang="en-US" sz="3286">
                <a:solidFill>
                  <a:srgbClr val="334865"/>
                </a:solidFill>
                <a:latin typeface="Comic Sans"/>
                <a:ea typeface="Comic Sans"/>
                <a:cs typeface="Comic Sans"/>
                <a:sym typeface="Comic Sans"/>
              </a:rPr>
              <a:t>Log daily activity including type, duration, sleep hours, water intake, mood, and notes.</a:t>
            </a:r>
          </a:p>
          <a:p>
            <a:pPr algn="l" marL="709468" indent="-354734" lvl="1">
              <a:lnSpc>
                <a:spcPts val="4600"/>
              </a:lnSpc>
              <a:buFont typeface="Arial"/>
              <a:buChar char="•"/>
            </a:pPr>
            <a:r>
              <a:rPr lang="en-US" sz="3286">
                <a:solidFill>
                  <a:srgbClr val="334865"/>
                </a:solidFill>
                <a:latin typeface="Comic Sans"/>
                <a:ea typeface="Comic Sans"/>
                <a:cs typeface="Comic Sans"/>
                <a:sym typeface="Comic Sans"/>
              </a:rPr>
              <a:t>Send logged activity to the Node.js backend via a POST request.</a:t>
            </a:r>
          </a:p>
          <a:p>
            <a:pPr algn="l" marL="709468" indent="-354734" lvl="1">
              <a:lnSpc>
                <a:spcPts val="4600"/>
              </a:lnSpc>
              <a:buFont typeface="Arial"/>
              <a:buChar char="•"/>
            </a:pPr>
            <a:r>
              <a:rPr lang="en-US" sz="3286">
                <a:solidFill>
                  <a:srgbClr val="334865"/>
                </a:solidFill>
                <a:latin typeface="Comic Sans"/>
                <a:ea typeface="Comic Sans"/>
                <a:cs typeface="Comic Sans"/>
                <a:sym typeface="Comic Sans"/>
              </a:rPr>
              <a:t>Retrieve all stored activities from the backend via a GET request.</a:t>
            </a:r>
          </a:p>
          <a:p>
            <a:pPr algn="l" marL="709468" indent="-354734" lvl="1">
              <a:lnSpc>
                <a:spcPts val="4600"/>
              </a:lnSpc>
              <a:buFont typeface="Arial"/>
              <a:buChar char="•"/>
            </a:pPr>
            <a:r>
              <a:rPr lang="en-US" sz="3286">
                <a:solidFill>
                  <a:srgbClr val="334865"/>
                </a:solidFill>
                <a:latin typeface="Comic Sans"/>
                <a:ea typeface="Comic Sans"/>
                <a:cs typeface="Comic Sans"/>
                <a:sym typeface="Comic Sans"/>
              </a:rPr>
              <a:t>Calculate and display Total Exercise, Average Sleep, Total Water, and Wellness Score.</a:t>
            </a:r>
          </a:p>
          <a:p>
            <a:pPr algn="l" marL="709468" indent="-354734" lvl="1">
              <a:lnSpc>
                <a:spcPts val="4600"/>
              </a:lnSpc>
              <a:buFont typeface="Arial"/>
              <a:buChar char="•"/>
            </a:pPr>
            <a:r>
              <a:rPr lang="en-US" sz="3286">
                <a:solidFill>
                  <a:srgbClr val="334865"/>
                </a:solidFill>
                <a:latin typeface="Comic Sans"/>
                <a:ea typeface="Comic Sans"/>
                <a:cs typeface="Comic Sans"/>
                <a:sym typeface="Comic Sans"/>
              </a:rPr>
              <a:t>Display all logged activity entries as individual cards on the Dashboard.</a:t>
            </a:r>
          </a:p>
          <a:p>
            <a:pPr algn="l" marL="709468" indent="-354734" lvl="1">
              <a:lnSpc>
                <a:spcPts val="4600"/>
              </a:lnSpc>
              <a:buFont typeface="Arial"/>
              <a:buChar char="•"/>
            </a:pPr>
            <a:r>
              <a:rPr lang="en-US" sz="3286">
                <a:solidFill>
                  <a:srgbClr val="334865"/>
                </a:solidFill>
                <a:latin typeface="Comic Sans"/>
                <a:ea typeface="Comic Sans"/>
                <a:cs typeface="Comic Sans"/>
                <a:sym typeface="Comic Sans"/>
              </a:rPr>
              <a:t>Set and save daily wellness goals for exercise, sleep, and water.</a:t>
            </a:r>
          </a:p>
          <a:p>
            <a:pPr algn="l" marL="709468" indent="-354734" lvl="1">
              <a:lnSpc>
                <a:spcPts val="4600"/>
              </a:lnSpc>
              <a:buFont typeface="Arial"/>
              <a:buChar char="•"/>
            </a:pPr>
            <a:r>
              <a:rPr lang="en-US" sz="3286">
                <a:solidFill>
                  <a:srgbClr val="334865"/>
                </a:solidFill>
                <a:latin typeface="Comic Sans"/>
                <a:ea typeface="Comic Sans"/>
                <a:cs typeface="Comic Sans"/>
                <a:sym typeface="Comic Sans"/>
              </a:rPr>
              <a:t>Display previously saved goals when the Goals page is reopened.</a:t>
            </a:r>
          </a:p>
          <a:p>
            <a:pPr algn="l" marL="709468" indent="-354734" lvl="1">
              <a:lnSpc>
                <a:spcPts val="4600"/>
              </a:lnSpc>
              <a:buFont typeface="Arial"/>
              <a:buChar char="•"/>
            </a:pPr>
            <a:r>
              <a:rPr lang="en-US" sz="3286">
                <a:solidFill>
                  <a:srgbClr val="334865"/>
                </a:solidFill>
                <a:latin typeface="Comic Sans"/>
                <a:ea typeface="Comic Sans"/>
                <a:cs typeface="Comic Sans"/>
                <a:sym typeface="Comic Sans"/>
              </a:rPr>
              <a:t>Log out and clear session data from the browser.</a:t>
            </a:r>
          </a:p>
          <a:p>
            <a:pPr algn="l">
              <a:lnSpc>
                <a:spcPts val="4600"/>
              </a:lnSpc>
            </a:pPr>
          </a:p>
        </p:txBody>
      </p:sp>
      <p:sp>
        <p:nvSpPr>
          <p:cNvPr name="Freeform 5" id="5"/>
          <p:cNvSpPr/>
          <p:nvPr/>
        </p:nvSpPr>
        <p:spPr>
          <a:xfrm flipH="false" flipV="false" rot="0">
            <a:off x="13222273" y="5646739"/>
            <a:ext cx="5682118" cy="5031258"/>
          </a:xfrm>
          <a:custGeom>
            <a:avLst/>
            <a:gdLst/>
            <a:ahLst/>
            <a:cxnLst/>
            <a:rect r="r" b="b" t="t" l="l"/>
            <a:pathLst>
              <a:path h="5031258" w="5682118">
                <a:moveTo>
                  <a:pt x="0" y="0"/>
                </a:moveTo>
                <a:lnTo>
                  <a:pt x="5682118" y="0"/>
                </a:lnTo>
                <a:lnTo>
                  <a:pt x="5682118" y="5031258"/>
                </a:lnTo>
                <a:lnTo>
                  <a:pt x="0" y="503125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1675920">
            <a:off x="15849682" y="496144"/>
            <a:ext cx="1615635" cy="2794338"/>
          </a:xfrm>
          <a:custGeom>
            <a:avLst/>
            <a:gdLst/>
            <a:ahLst/>
            <a:cxnLst/>
            <a:rect r="r" b="b" t="t" l="l"/>
            <a:pathLst>
              <a:path h="2794338" w="1615635">
                <a:moveTo>
                  <a:pt x="0" y="0"/>
                </a:moveTo>
                <a:lnTo>
                  <a:pt x="1615635" y="0"/>
                </a:lnTo>
                <a:lnTo>
                  <a:pt x="1615635" y="2794338"/>
                </a:lnTo>
                <a:lnTo>
                  <a:pt x="0" y="279433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0" y="0"/>
            <a:ext cx="1610814" cy="1495186"/>
          </a:xfrm>
          <a:custGeom>
            <a:avLst/>
            <a:gdLst/>
            <a:ahLst/>
            <a:cxnLst/>
            <a:rect r="r" b="b" t="t" l="l"/>
            <a:pathLst>
              <a:path h="1495186" w="1610814">
                <a:moveTo>
                  <a:pt x="0" y="0"/>
                </a:moveTo>
                <a:lnTo>
                  <a:pt x="1610814" y="0"/>
                </a:lnTo>
                <a:lnTo>
                  <a:pt x="1610814" y="1495186"/>
                </a:lnTo>
                <a:lnTo>
                  <a:pt x="0" y="1495186"/>
                </a:lnTo>
                <a:lnTo>
                  <a:pt x="0" y="0"/>
                </a:lnTo>
                <a:close/>
              </a:path>
            </a:pathLst>
          </a:custGeom>
          <a:blipFill>
            <a:blip r:embed="rId8"/>
            <a:stretch>
              <a:fillRect l="0" t="0" r="0" b="0"/>
            </a:stretch>
          </a:blipFill>
        </p:spPr>
      </p:sp>
      <p:sp>
        <p:nvSpPr>
          <p:cNvPr name="TextBox 8" id="8"/>
          <p:cNvSpPr txBox="true"/>
          <p:nvPr/>
        </p:nvSpPr>
        <p:spPr>
          <a:xfrm rot="0">
            <a:off x="3102159" y="273365"/>
            <a:ext cx="12187164" cy="1221821"/>
          </a:xfrm>
          <a:prstGeom prst="rect">
            <a:avLst/>
          </a:prstGeom>
        </p:spPr>
        <p:txBody>
          <a:bodyPr anchor="t" rtlCol="false" tIns="0" lIns="0" bIns="0" rIns="0">
            <a:spAutoFit/>
          </a:bodyPr>
          <a:lstStyle/>
          <a:p>
            <a:pPr algn="l">
              <a:lnSpc>
                <a:spcPts val="9662"/>
              </a:lnSpc>
              <a:spcBef>
                <a:spcPct val="0"/>
              </a:spcBef>
            </a:pPr>
            <a:r>
              <a:rPr lang="en-US" sz="8051">
                <a:solidFill>
                  <a:srgbClr val="334865"/>
                </a:solidFill>
                <a:latin typeface="Knewave"/>
                <a:ea typeface="Knewave"/>
                <a:cs typeface="Knewave"/>
                <a:sym typeface="Knewave"/>
              </a:rPr>
              <a:t>Functi</a:t>
            </a:r>
            <a:r>
              <a:rPr lang="en-US" sz="8051">
                <a:solidFill>
                  <a:srgbClr val="334865"/>
                </a:solidFill>
                <a:latin typeface="Knewave"/>
                <a:ea typeface="Knewave"/>
                <a:cs typeface="Knewave"/>
                <a:sym typeface="Knewave"/>
              </a:rPr>
              <a:t>onal Requirements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5143500"/>
            <a:ext cx="10287000" cy="20574000"/>
          </a:xfrm>
          <a:custGeom>
            <a:avLst/>
            <a:gdLst/>
            <a:ahLst/>
            <a:cxnLst/>
            <a:rect r="r" b="b" t="t" l="l"/>
            <a:pathLst>
              <a:path h="20574000" w="10287000">
                <a:moveTo>
                  <a:pt x="0" y="0"/>
                </a:moveTo>
                <a:lnTo>
                  <a:pt x="10287000" y="0"/>
                </a:lnTo>
                <a:lnTo>
                  <a:pt x="10287000" y="20574000"/>
                </a:lnTo>
                <a:lnTo>
                  <a:pt x="0" y="20574000"/>
                </a:lnTo>
                <a:lnTo>
                  <a:pt x="0" y="0"/>
                </a:lnTo>
                <a:close/>
              </a:path>
            </a:pathLst>
          </a:custGeom>
          <a:blipFill>
            <a:blip r:embed="rId2">
              <a:alphaModFix amt="6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631468" y="5255742"/>
            <a:ext cx="5682118" cy="5031258"/>
          </a:xfrm>
          <a:custGeom>
            <a:avLst/>
            <a:gdLst/>
            <a:ahLst/>
            <a:cxnLst/>
            <a:rect r="r" b="b" t="t" l="l"/>
            <a:pathLst>
              <a:path h="5031258" w="5682118">
                <a:moveTo>
                  <a:pt x="0" y="0"/>
                </a:moveTo>
                <a:lnTo>
                  <a:pt x="5682118" y="0"/>
                </a:lnTo>
                <a:lnTo>
                  <a:pt x="5682118" y="5031258"/>
                </a:lnTo>
                <a:lnTo>
                  <a:pt x="0" y="503125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811195" y="338320"/>
            <a:ext cx="14665610" cy="1221821"/>
          </a:xfrm>
          <a:prstGeom prst="rect">
            <a:avLst/>
          </a:prstGeom>
        </p:spPr>
        <p:txBody>
          <a:bodyPr anchor="t" rtlCol="false" tIns="0" lIns="0" bIns="0" rIns="0">
            <a:spAutoFit/>
          </a:bodyPr>
          <a:lstStyle/>
          <a:p>
            <a:pPr algn="l">
              <a:lnSpc>
                <a:spcPts val="9662"/>
              </a:lnSpc>
              <a:spcBef>
                <a:spcPct val="0"/>
              </a:spcBef>
            </a:pPr>
            <a:r>
              <a:rPr lang="en-US" sz="8051">
                <a:solidFill>
                  <a:srgbClr val="334865"/>
                </a:solidFill>
                <a:latin typeface="Knewave"/>
                <a:ea typeface="Knewave"/>
                <a:cs typeface="Knewave"/>
                <a:sym typeface="Knewave"/>
              </a:rPr>
              <a:t>N</a:t>
            </a:r>
            <a:r>
              <a:rPr lang="en-US" sz="8051">
                <a:solidFill>
                  <a:srgbClr val="334865"/>
                </a:solidFill>
                <a:latin typeface="Knewave"/>
                <a:ea typeface="Knewave"/>
                <a:cs typeface="Knewave"/>
                <a:sym typeface="Knewave"/>
              </a:rPr>
              <a:t>on-Functional Requirements</a:t>
            </a:r>
          </a:p>
        </p:txBody>
      </p:sp>
      <p:sp>
        <p:nvSpPr>
          <p:cNvPr name="Freeform 5" id="5"/>
          <p:cNvSpPr/>
          <p:nvPr/>
        </p:nvSpPr>
        <p:spPr>
          <a:xfrm flipH="false" flipV="false" rot="0">
            <a:off x="13691925" y="5713971"/>
            <a:ext cx="4167845" cy="4114800"/>
          </a:xfrm>
          <a:custGeom>
            <a:avLst/>
            <a:gdLst/>
            <a:ahLst/>
            <a:cxnLst/>
            <a:rect r="r" b="b" t="t" l="l"/>
            <a:pathLst>
              <a:path h="4114800" w="4167845">
                <a:moveTo>
                  <a:pt x="0" y="0"/>
                </a:moveTo>
                <a:lnTo>
                  <a:pt x="4167845" y="0"/>
                </a:lnTo>
                <a:lnTo>
                  <a:pt x="4167845"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1558264">
            <a:off x="15016638" y="1481673"/>
            <a:ext cx="2888278" cy="3553810"/>
          </a:xfrm>
          <a:custGeom>
            <a:avLst/>
            <a:gdLst/>
            <a:ahLst/>
            <a:cxnLst/>
            <a:rect r="r" b="b" t="t" l="l"/>
            <a:pathLst>
              <a:path h="3553810" w="2888278">
                <a:moveTo>
                  <a:pt x="0" y="0"/>
                </a:moveTo>
                <a:lnTo>
                  <a:pt x="2888278" y="0"/>
                </a:lnTo>
                <a:lnTo>
                  <a:pt x="2888278" y="3553810"/>
                </a:lnTo>
                <a:lnTo>
                  <a:pt x="0" y="355381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7" id="7"/>
          <p:cNvSpPr txBox="true"/>
          <p:nvPr/>
        </p:nvSpPr>
        <p:spPr>
          <a:xfrm rot="0">
            <a:off x="790120" y="2292238"/>
            <a:ext cx="11841347" cy="7536533"/>
          </a:xfrm>
          <a:prstGeom prst="rect">
            <a:avLst/>
          </a:prstGeom>
        </p:spPr>
        <p:txBody>
          <a:bodyPr anchor="t" rtlCol="false" tIns="0" lIns="0" bIns="0" rIns="0">
            <a:spAutoFit/>
          </a:bodyPr>
          <a:lstStyle/>
          <a:p>
            <a:pPr algn="l" marL="709468" indent="-354734" lvl="1">
              <a:lnSpc>
                <a:spcPts val="4600"/>
              </a:lnSpc>
              <a:buFont typeface="Arial"/>
              <a:buChar char="•"/>
            </a:pPr>
            <a:r>
              <a:rPr lang="en-US" sz="3286">
                <a:solidFill>
                  <a:srgbClr val="334865"/>
                </a:solidFill>
                <a:latin typeface="Comic Sans"/>
                <a:ea typeface="Comic Sans"/>
                <a:cs typeface="Comic Sans"/>
                <a:sym typeface="Comic Sans"/>
              </a:rPr>
              <a:t>Simple and student-friendly interface.</a:t>
            </a:r>
          </a:p>
          <a:p>
            <a:pPr algn="l" marL="709468" indent="-354734" lvl="1">
              <a:lnSpc>
                <a:spcPts val="4600"/>
              </a:lnSpc>
              <a:buFont typeface="Arial"/>
              <a:buChar char="•"/>
            </a:pPr>
            <a:r>
              <a:rPr lang="en-US" sz="3286">
                <a:solidFill>
                  <a:srgbClr val="334865"/>
                </a:solidFill>
                <a:latin typeface="Comic Sans"/>
                <a:ea typeface="Comic Sans"/>
                <a:cs typeface="Comic Sans"/>
                <a:sym typeface="Comic Sans"/>
              </a:rPr>
              <a:t>Fast performance with no external API calls or heavy frameworks.</a:t>
            </a:r>
          </a:p>
          <a:p>
            <a:pPr algn="l" marL="709468" indent="-354734" lvl="1">
              <a:lnSpc>
                <a:spcPts val="4600"/>
              </a:lnSpc>
              <a:buFont typeface="Arial"/>
              <a:buChar char="•"/>
            </a:pPr>
            <a:r>
              <a:rPr lang="en-US" sz="3286">
                <a:solidFill>
                  <a:srgbClr val="334865"/>
                </a:solidFill>
                <a:latin typeface="Comic Sans"/>
                <a:ea typeface="Comic Sans"/>
                <a:cs typeface="Comic Sans"/>
                <a:sym typeface="Comic Sans"/>
              </a:rPr>
              <a:t>Consiste</a:t>
            </a:r>
            <a:r>
              <a:rPr lang="en-US" sz="3286">
                <a:solidFill>
                  <a:srgbClr val="334865"/>
                </a:solidFill>
                <a:latin typeface="Comic Sans"/>
                <a:ea typeface="Comic Sans"/>
                <a:cs typeface="Comic Sans"/>
                <a:sym typeface="Comic Sans"/>
              </a:rPr>
              <a:t>nt layout with shared Header and Footer across all pages.</a:t>
            </a:r>
          </a:p>
          <a:p>
            <a:pPr algn="l" marL="709468" indent="-354734" lvl="1">
              <a:lnSpc>
                <a:spcPts val="4600"/>
              </a:lnSpc>
              <a:buFont typeface="Arial"/>
              <a:buChar char="•"/>
            </a:pPr>
            <a:r>
              <a:rPr lang="en-US" sz="3286">
                <a:solidFill>
                  <a:srgbClr val="334865"/>
                </a:solidFill>
                <a:latin typeface="Comic Sans"/>
                <a:ea typeface="Comic Sans"/>
                <a:cs typeface="Comic Sans"/>
                <a:sym typeface="Comic Sans"/>
              </a:rPr>
              <a:t>Privacy — all data stays on localhost with no third-party sharing.</a:t>
            </a:r>
          </a:p>
          <a:p>
            <a:pPr algn="l" marL="709468" indent="-354734" lvl="1">
              <a:lnSpc>
                <a:spcPts val="4600"/>
              </a:lnSpc>
              <a:buFont typeface="Arial"/>
              <a:buChar char="•"/>
            </a:pPr>
            <a:r>
              <a:rPr lang="en-US" sz="3286">
                <a:solidFill>
                  <a:srgbClr val="334865"/>
                </a:solidFill>
                <a:latin typeface="Comic Sans"/>
                <a:ea typeface="Comic Sans"/>
                <a:cs typeface="Comic Sans"/>
                <a:sym typeface="Comic Sans"/>
              </a:rPr>
              <a:t>Maintainable code with each file having a single responsibility.</a:t>
            </a:r>
          </a:p>
          <a:p>
            <a:pPr algn="l" marL="709468" indent="-354734" lvl="1">
              <a:lnSpc>
                <a:spcPts val="4600"/>
              </a:lnSpc>
              <a:buFont typeface="Arial"/>
              <a:buChar char="•"/>
            </a:pPr>
            <a:r>
              <a:rPr lang="en-US" sz="3286">
                <a:solidFill>
                  <a:srgbClr val="334865"/>
                </a:solidFill>
                <a:latin typeface="Comic Sans"/>
                <a:ea typeface="Comic Sans"/>
                <a:cs typeface="Comic Sans"/>
                <a:sym typeface="Comic Sans"/>
              </a:rPr>
              <a:t>Backend runs on a fixed port (8083) without conflicts.</a:t>
            </a:r>
          </a:p>
          <a:p>
            <a:pPr algn="l" marL="709468" indent="-354734" lvl="1">
              <a:lnSpc>
                <a:spcPts val="4600"/>
              </a:lnSpc>
              <a:buFont typeface="Arial"/>
              <a:buChar char="•"/>
            </a:pPr>
            <a:r>
              <a:rPr lang="en-US" sz="3286">
                <a:solidFill>
                  <a:srgbClr val="334865"/>
                </a:solidFill>
                <a:latin typeface="Comic Sans"/>
                <a:ea typeface="Comic Sans"/>
                <a:cs typeface="Comic Sans"/>
                <a:sym typeface="Comic Sans"/>
              </a:rPr>
              <a:t>Application works correctly on desktop and laptop screen sizes.</a:t>
            </a:r>
          </a:p>
          <a:p>
            <a:pPr algn="l">
              <a:lnSpc>
                <a:spcPts val="4600"/>
              </a:lnSpc>
            </a:pPr>
          </a:p>
        </p:txBody>
      </p:sp>
      <p:sp>
        <p:nvSpPr>
          <p:cNvPr name="Freeform 8" id="8"/>
          <p:cNvSpPr/>
          <p:nvPr/>
        </p:nvSpPr>
        <p:spPr>
          <a:xfrm flipH="false" flipV="false" rot="0">
            <a:off x="-50276" y="0"/>
            <a:ext cx="1680792" cy="1560141"/>
          </a:xfrm>
          <a:custGeom>
            <a:avLst/>
            <a:gdLst/>
            <a:ahLst/>
            <a:cxnLst/>
            <a:rect r="r" b="b" t="t" l="l"/>
            <a:pathLst>
              <a:path h="1560141" w="1680792">
                <a:moveTo>
                  <a:pt x="0" y="0"/>
                </a:moveTo>
                <a:lnTo>
                  <a:pt x="1680792" y="0"/>
                </a:lnTo>
                <a:lnTo>
                  <a:pt x="1680792" y="1560141"/>
                </a:lnTo>
                <a:lnTo>
                  <a:pt x="0" y="1560141"/>
                </a:lnTo>
                <a:lnTo>
                  <a:pt x="0" y="0"/>
                </a:lnTo>
                <a:close/>
              </a:path>
            </a:pathLst>
          </a:custGeom>
          <a:blipFill>
            <a:blip r:embed="rId10"/>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5143500"/>
            <a:ext cx="10287000" cy="20574000"/>
          </a:xfrm>
          <a:custGeom>
            <a:avLst/>
            <a:gdLst/>
            <a:ahLst/>
            <a:cxnLst/>
            <a:rect r="r" b="b" t="t" l="l"/>
            <a:pathLst>
              <a:path h="20574000" w="10287000">
                <a:moveTo>
                  <a:pt x="0" y="0"/>
                </a:moveTo>
                <a:lnTo>
                  <a:pt x="10287000" y="0"/>
                </a:lnTo>
                <a:lnTo>
                  <a:pt x="10287000" y="20574000"/>
                </a:lnTo>
                <a:lnTo>
                  <a:pt x="0" y="20574000"/>
                </a:lnTo>
                <a:lnTo>
                  <a:pt x="0" y="0"/>
                </a:lnTo>
                <a:close/>
              </a:path>
            </a:pathLst>
          </a:custGeom>
          <a:blipFill>
            <a:blip r:embed="rId2">
              <a:alphaModFix amt="6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572232" y="5842262"/>
            <a:ext cx="2715768" cy="4114800"/>
          </a:xfrm>
          <a:custGeom>
            <a:avLst/>
            <a:gdLst/>
            <a:ahLst/>
            <a:cxnLst/>
            <a:rect r="r" b="b" t="t" l="l"/>
            <a:pathLst>
              <a:path h="4114800" w="2715768">
                <a:moveTo>
                  <a:pt x="0" y="0"/>
                </a:moveTo>
                <a:lnTo>
                  <a:pt x="2715768" y="0"/>
                </a:lnTo>
                <a:lnTo>
                  <a:pt x="2715768"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438526">
            <a:off x="2243806" y="135427"/>
            <a:ext cx="2260312" cy="2054829"/>
          </a:xfrm>
          <a:custGeom>
            <a:avLst/>
            <a:gdLst/>
            <a:ahLst/>
            <a:cxnLst/>
            <a:rect r="r" b="b" t="t" l="l"/>
            <a:pathLst>
              <a:path h="2054829" w="2260312">
                <a:moveTo>
                  <a:pt x="0" y="0"/>
                </a:moveTo>
                <a:lnTo>
                  <a:pt x="2260313" y="0"/>
                </a:lnTo>
                <a:lnTo>
                  <a:pt x="2260313" y="2054829"/>
                </a:lnTo>
                <a:lnTo>
                  <a:pt x="0" y="205482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0" y="2448954"/>
            <a:ext cx="15945464" cy="6374483"/>
          </a:xfrm>
          <a:prstGeom prst="rect">
            <a:avLst/>
          </a:prstGeom>
        </p:spPr>
        <p:txBody>
          <a:bodyPr anchor="t" rtlCol="false" tIns="0" lIns="0" bIns="0" rIns="0">
            <a:spAutoFit/>
          </a:bodyPr>
          <a:lstStyle/>
          <a:p>
            <a:pPr algn="just" marL="709468" indent="-354734" lvl="1">
              <a:lnSpc>
                <a:spcPts val="4600"/>
              </a:lnSpc>
              <a:buFont typeface="Arial"/>
              <a:buChar char="•"/>
            </a:pPr>
            <a:r>
              <a:rPr lang="en-US" sz="3286">
                <a:solidFill>
                  <a:srgbClr val="334865"/>
                </a:solidFill>
                <a:latin typeface="Comic Sans"/>
                <a:ea typeface="Comic Sans"/>
                <a:cs typeface="Comic Sans"/>
                <a:sym typeface="Comic Sans"/>
              </a:rPr>
              <a:t>All activity data is stored</a:t>
            </a:r>
            <a:r>
              <a:rPr lang="en-US" sz="3286">
                <a:solidFill>
                  <a:srgbClr val="334865"/>
                </a:solidFill>
                <a:latin typeface="Comic Sans"/>
                <a:ea typeface="Comic Sans"/>
                <a:cs typeface="Comic Sans"/>
                <a:sym typeface="Comic Sans"/>
              </a:rPr>
              <a:t> in memory only — data is lost when the server is restarted.</a:t>
            </a:r>
          </a:p>
          <a:p>
            <a:pPr algn="just" marL="709468" indent="-354734" lvl="1">
              <a:lnSpc>
                <a:spcPts val="4600"/>
              </a:lnSpc>
              <a:buFont typeface="Arial"/>
              <a:buChar char="•"/>
            </a:pPr>
            <a:r>
              <a:rPr lang="en-US" sz="3286">
                <a:solidFill>
                  <a:srgbClr val="334865"/>
                </a:solidFill>
                <a:latin typeface="Comic Sans"/>
                <a:ea typeface="Comic Sans"/>
                <a:cs typeface="Comic Sans"/>
                <a:sym typeface="Comic Sans"/>
              </a:rPr>
              <a:t>Backend runs on port 8083 and the frontend makes all API calls to localhost:8083.</a:t>
            </a:r>
          </a:p>
          <a:p>
            <a:pPr algn="just" marL="709468" indent="-354734" lvl="1">
              <a:lnSpc>
                <a:spcPts val="4600"/>
              </a:lnSpc>
              <a:buFont typeface="Arial"/>
              <a:buChar char="•"/>
            </a:pPr>
            <a:r>
              <a:rPr lang="en-US" sz="3286">
                <a:solidFill>
                  <a:srgbClr val="334865"/>
                </a:solidFill>
                <a:latin typeface="Comic Sans"/>
                <a:ea typeface="Comic Sans"/>
                <a:cs typeface="Comic Sans"/>
                <a:sym typeface="Comic Sans"/>
              </a:rPr>
              <a:t>Login and signup validation is done on the frontend using localStorage.</a:t>
            </a:r>
          </a:p>
          <a:p>
            <a:pPr algn="just" marL="709468" indent="-354734" lvl="1">
              <a:lnSpc>
                <a:spcPts val="4600"/>
              </a:lnSpc>
              <a:buFont typeface="Arial"/>
              <a:buChar char="•"/>
            </a:pPr>
            <a:r>
              <a:rPr lang="en-US" sz="3286">
                <a:solidFill>
                  <a:srgbClr val="334865"/>
                </a:solidFill>
                <a:latin typeface="Comic Sans"/>
                <a:ea typeface="Comic Sans"/>
                <a:cs typeface="Comic Sans"/>
                <a:sym typeface="Comic Sans"/>
              </a:rPr>
              <a:t>Users provide accurate health information when filling the Log Activity form.</a:t>
            </a:r>
          </a:p>
          <a:p>
            <a:pPr algn="just" marL="709468" indent="-354734" lvl="1">
              <a:lnSpc>
                <a:spcPts val="4600"/>
              </a:lnSpc>
              <a:buFont typeface="Arial"/>
              <a:buChar char="•"/>
            </a:pPr>
            <a:r>
              <a:rPr lang="en-US" sz="3286">
                <a:solidFill>
                  <a:srgbClr val="334865"/>
                </a:solidFill>
                <a:latin typeface="Comic Sans"/>
                <a:ea typeface="Comic Sans"/>
                <a:cs typeface="Comic Sans"/>
                <a:sym typeface="Comic Sans"/>
              </a:rPr>
              <a:t>The Wellness Score is a formula-based indicator and not a medically certified metric.</a:t>
            </a:r>
          </a:p>
          <a:p>
            <a:pPr algn="just" marL="709468" indent="-354734" lvl="1">
              <a:lnSpc>
                <a:spcPts val="4600"/>
              </a:lnSpc>
              <a:buFont typeface="Arial"/>
              <a:buChar char="•"/>
            </a:pPr>
            <a:r>
              <a:rPr lang="en-US" sz="3286">
                <a:solidFill>
                  <a:srgbClr val="334865"/>
                </a:solidFill>
                <a:latin typeface="Comic Sans"/>
                <a:ea typeface="Comic Sans"/>
                <a:cs typeface="Comic Sans"/>
                <a:sym typeface="Comic Sans"/>
              </a:rPr>
              <a:t>The application runs on local machines only and is not deployed to the internet.</a:t>
            </a:r>
          </a:p>
          <a:p>
            <a:pPr algn="just">
              <a:lnSpc>
                <a:spcPts val="4600"/>
              </a:lnSpc>
            </a:pPr>
          </a:p>
        </p:txBody>
      </p:sp>
      <p:sp>
        <p:nvSpPr>
          <p:cNvPr name="Freeform 6" id="6"/>
          <p:cNvSpPr/>
          <p:nvPr/>
        </p:nvSpPr>
        <p:spPr>
          <a:xfrm flipH="false" flipV="false" rot="0">
            <a:off x="-191048" y="-207384"/>
            <a:ext cx="2132932" cy="1979826"/>
          </a:xfrm>
          <a:custGeom>
            <a:avLst/>
            <a:gdLst/>
            <a:ahLst/>
            <a:cxnLst/>
            <a:rect r="r" b="b" t="t" l="l"/>
            <a:pathLst>
              <a:path h="1979826" w="2132932">
                <a:moveTo>
                  <a:pt x="0" y="0"/>
                </a:moveTo>
                <a:lnTo>
                  <a:pt x="2132933" y="0"/>
                </a:lnTo>
                <a:lnTo>
                  <a:pt x="2132933" y="1979826"/>
                </a:lnTo>
                <a:lnTo>
                  <a:pt x="0" y="1979826"/>
                </a:lnTo>
                <a:lnTo>
                  <a:pt x="0" y="0"/>
                </a:lnTo>
                <a:close/>
              </a:path>
            </a:pathLst>
          </a:custGeom>
          <a:blipFill>
            <a:blip r:embed="rId8"/>
            <a:stretch>
              <a:fillRect l="0" t="0" r="0" b="0"/>
            </a:stretch>
          </a:blipFill>
        </p:spPr>
      </p:sp>
      <p:sp>
        <p:nvSpPr>
          <p:cNvPr name="TextBox 7" id="7"/>
          <p:cNvSpPr txBox="true"/>
          <p:nvPr/>
        </p:nvSpPr>
        <p:spPr>
          <a:xfrm rot="0">
            <a:off x="5016996" y="553242"/>
            <a:ext cx="8908293" cy="1219200"/>
          </a:xfrm>
          <a:prstGeom prst="rect">
            <a:avLst/>
          </a:prstGeom>
        </p:spPr>
        <p:txBody>
          <a:bodyPr anchor="t" rtlCol="false" tIns="0" lIns="0" bIns="0" rIns="0">
            <a:spAutoFit/>
          </a:bodyPr>
          <a:lstStyle/>
          <a:p>
            <a:pPr algn="ctr">
              <a:lnSpc>
                <a:spcPts val="9662"/>
              </a:lnSpc>
              <a:spcBef>
                <a:spcPct val="0"/>
              </a:spcBef>
            </a:pPr>
            <a:r>
              <a:rPr lang="en-US" sz="8051">
                <a:solidFill>
                  <a:srgbClr val="334865"/>
                </a:solidFill>
                <a:latin typeface="Knewave"/>
                <a:ea typeface="Knewave"/>
                <a:cs typeface="Knewave"/>
                <a:sym typeface="Knewave"/>
              </a:rPr>
              <a:t>A</a:t>
            </a:r>
            <a:r>
              <a:rPr lang="en-US" sz="8051">
                <a:solidFill>
                  <a:srgbClr val="334865"/>
                </a:solidFill>
                <a:latin typeface="Knewave"/>
                <a:ea typeface="Knewave"/>
                <a:cs typeface="Knewave"/>
                <a:sym typeface="Knewave"/>
              </a:rPr>
              <a:t>ssumptions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5143500"/>
            <a:ext cx="10287000" cy="20574000"/>
          </a:xfrm>
          <a:custGeom>
            <a:avLst/>
            <a:gdLst/>
            <a:ahLst/>
            <a:cxnLst/>
            <a:rect r="r" b="b" t="t" l="l"/>
            <a:pathLst>
              <a:path h="20574000" w="10287000">
                <a:moveTo>
                  <a:pt x="0" y="0"/>
                </a:moveTo>
                <a:lnTo>
                  <a:pt x="10287000" y="0"/>
                </a:lnTo>
                <a:lnTo>
                  <a:pt x="10287000" y="20574000"/>
                </a:lnTo>
                <a:lnTo>
                  <a:pt x="0" y="20574000"/>
                </a:lnTo>
                <a:lnTo>
                  <a:pt x="0" y="0"/>
                </a:lnTo>
                <a:close/>
              </a:path>
            </a:pathLst>
          </a:custGeom>
          <a:blipFill>
            <a:blip r:embed="rId2">
              <a:alphaModFix amt="6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484989" y="-956224"/>
            <a:ext cx="5682118" cy="5031258"/>
          </a:xfrm>
          <a:custGeom>
            <a:avLst/>
            <a:gdLst/>
            <a:ahLst/>
            <a:cxnLst/>
            <a:rect r="r" b="b" t="t" l="l"/>
            <a:pathLst>
              <a:path h="5031258" w="5682118">
                <a:moveTo>
                  <a:pt x="0" y="0"/>
                </a:moveTo>
                <a:lnTo>
                  <a:pt x="5682119" y="0"/>
                </a:lnTo>
                <a:lnTo>
                  <a:pt x="5682119" y="5031257"/>
                </a:lnTo>
                <a:lnTo>
                  <a:pt x="0" y="503125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692385" y="3001152"/>
            <a:ext cx="14903230" cy="5793458"/>
          </a:xfrm>
          <a:prstGeom prst="rect">
            <a:avLst/>
          </a:prstGeom>
        </p:spPr>
        <p:txBody>
          <a:bodyPr anchor="t" rtlCol="false" tIns="0" lIns="0" bIns="0" rIns="0">
            <a:spAutoFit/>
          </a:bodyPr>
          <a:lstStyle/>
          <a:p>
            <a:pPr algn="l" marL="709468" indent="-354734" lvl="1">
              <a:lnSpc>
                <a:spcPts val="4600"/>
              </a:lnSpc>
              <a:buFont typeface="Arial"/>
              <a:buChar char="•"/>
            </a:pPr>
            <a:r>
              <a:rPr lang="en-US" sz="3286">
                <a:solidFill>
                  <a:srgbClr val="334865"/>
                </a:solidFill>
                <a:latin typeface="Comic Sans"/>
                <a:ea typeface="Comic Sans"/>
                <a:cs typeface="Comic Sans"/>
                <a:sym typeface="Comic Sans"/>
              </a:rPr>
              <a:t>User can register a</a:t>
            </a:r>
            <a:r>
              <a:rPr lang="en-US" sz="3286">
                <a:solidFill>
                  <a:srgbClr val="334865"/>
                </a:solidFill>
                <a:latin typeface="Comic Sans"/>
                <a:ea typeface="Comic Sans"/>
                <a:cs typeface="Comic Sans"/>
                <a:sym typeface="Comic Sans"/>
              </a:rPr>
              <a:t>nd log in through Signup and Login pages.</a:t>
            </a:r>
          </a:p>
          <a:p>
            <a:pPr algn="l" marL="709468" indent="-354734" lvl="1">
              <a:lnSpc>
                <a:spcPts val="4600"/>
              </a:lnSpc>
              <a:buFont typeface="Arial"/>
              <a:buChar char="•"/>
            </a:pPr>
            <a:r>
              <a:rPr lang="en-US" sz="3286">
                <a:solidFill>
                  <a:srgbClr val="334865"/>
                </a:solidFill>
                <a:latin typeface="Comic Sans"/>
                <a:ea typeface="Comic Sans"/>
                <a:cs typeface="Comic Sans"/>
                <a:sym typeface="Comic Sans"/>
              </a:rPr>
              <a:t>Logged activity appears correctly on the Dashboard after form submission.</a:t>
            </a:r>
          </a:p>
          <a:p>
            <a:pPr algn="l" marL="709468" indent="-354734" lvl="1">
              <a:lnSpc>
                <a:spcPts val="4600"/>
              </a:lnSpc>
              <a:buFont typeface="Arial"/>
              <a:buChar char="•"/>
            </a:pPr>
            <a:r>
              <a:rPr lang="en-US" sz="3286">
                <a:solidFill>
                  <a:srgbClr val="334865"/>
                </a:solidFill>
                <a:latin typeface="Comic Sans"/>
                <a:ea typeface="Comic Sans"/>
                <a:cs typeface="Comic Sans"/>
                <a:sym typeface="Comic Sans"/>
              </a:rPr>
              <a:t>Dashboard displays Total Exercise, Average Sleep, Total Water, and Wellness Score.</a:t>
            </a:r>
          </a:p>
          <a:p>
            <a:pPr algn="l" marL="709468" indent="-354734" lvl="1">
              <a:lnSpc>
                <a:spcPts val="4600"/>
              </a:lnSpc>
              <a:buFont typeface="Arial"/>
              <a:buChar char="•"/>
            </a:pPr>
            <a:r>
              <a:rPr lang="en-US" sz="3286">
                <a:solidFill>
                  <a:srgbClr val="334865"/>
                </a:solidFill>
                <a:latin typeface="Comic Sans"/>
                <a:ea typeface="Comic Sans"/>
                <a:cs typeface="Comic Sans"/>
                <a:sym typeface="Comic Sans"/>
              </a:rPr>
              <a:t>Node.js server runs on port 8083 and handles GET and POST requests to /activities.</a:t>
            </a:r>
          </a:p>
          <a:p>
            <a:pPr algn="l" marL="709468" indent="-354734" lvl="1">
              <a:lnSpc>
                <a:spcPts val="4600"/>
              </a:lnSpc>
              <a:buFont typeface="Arial"/>
              <a:buChar char="•"/>
            </a:pPr>
            <a:r>
              <a:rPr lang="en-US" sz="3286">
                <a:solidFill>
                  <a:srgbClr val="334865"/>
                </a:solidFill>
                <a:latin typeface="Comic Sans"/>
                <a:ea typeface="Comic Sans"/>
                <a:cs typeface="Comic Sans"/>
                <a:sym typeface="Comic Sans"/>
              </a:rPr>
              <a:t>W</a:t>
            </a:r>
            <a:r>
              <a:rPr lang="en-US" sz="3286">
                <a:solidFill>
                  <a:srgbClr val="334865"/>
                </a:solidFill>
                <a:latin typeface="Comic Sans"/>
                <a:ea typeface="Comic Sans"/>
                <a:cs typeface="Comic Sans"/>
                <a:sym typeface="Comic Sans"/>
              </a:rPr>
              <a:t>ellness goals are saved and displayed correctly on the Goals page.</a:t>
            </a:r>
          </a:p>
          <a:p>
            <a:pPr algn="l" marL="709468" indent="-354734" lvl="1">
              <a:lnSpc>
                <a:spcPts val="4600"/>
              </a:lnSpc>
              <a:buFont typeface="Arial"/>
              <a:buChar char="•"/>
            </a:pPr>
            <a:r>
              <a:rPr lang="en-US" sz="3286">
                <a:solidFill>
                  <a:srgbClr val="334865"/>
                </a:solidFill>
                <a:latin typeface="Comic Sans"/>
                <a:ea typeface="Comic Sans"/>
                <a:cs typeface="Comic Sans"/>
                <a:sym typeface="Comic Sans"/>
              </a:rPr>
              <a:t>All pages render consistently across desktop and laptop screens.</a:t>
            </a:r>
          </a:p>
          <a:p>
            <a:pPr algn="l">
              <a:lnSpc>
                <a:spcPts val="4600"/>
              </a:lnSpc>
            </a:pPr>
          </a:p>
        </p:txBody>
      </p:sp>
      <p:sp>
        <p:nvSpPr>
          <p:cNvPr name="Freeform 5" id="5"/>
          <p:cNvSpPr/>
          <p:nvPr/>
        </p:nvSpPr>
        <p:spPr>
          <a:xfrm flipH="false" flipV="false" rot="0">
            <a:off x="13748882" y="5931218"/>
            <a:ext cx="5682118" cy="5031258"/>
          </a:xfrm>
          <a:custGeom>
            <a:avLst/>
            <a:gdLst/>
            <a:ahLst/>
            <a:cxnLst/>
            <a:rect r="r" b="b" t="t" l="l"/>
            <a:pathLst>
              <a:path h="5031258" w="5682118">
                <a:moveTo>
                  <a:pt x="0" y="0"/>
                </a:moveTo>
                <a:lnTo>
                  <a:pt x="5682118" y="0"/>
                </a:lnTo>
                <a:lnTo>
                  <a:pt x="5682118" y="5031258"/>
                </a:lnTo>
                <a:lnTo>
                  <a:pt x="0" y="503125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256448">
            <a:off x="1765153" y="384776"/>
            <a:ext cx="2708896" cy="2053836"/>
          </a:xfrm>
          <a:custGeom>
            <a:avLst/>
            <a:gdLst/>
            <a:ahLst/>
            <a:cxnLst/>
            <a:rect r="r" b="b" t="t" l="l"/>
            <a:pathLst>
              <a:path h="2053836" w="2708896">
                <a:moveTo>
                  <a:pt x="0" y="0"/>
                </a:moveTo>
                <a:lnTo>
                  <a:pt x="2708897" y="0"/>
                </a:lnTo>
                <a:lnTo>
                  <a:pt x="2708897" y="2053836"/>
                </a:lnTo>
                <a:lnTo>
                  <a:pt x="0" y="205383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true" flipV="false" rot="-338600">
            <a:off x="14184552" y="480279"/>
            <a:ext cx="4025398" cy="1785813"/>
          </a:xfrm>
          <a:custGeom>
            <a:avLst/>
            <a:gdLst/>
            <a:ahLst/>
            <a:cxnLst/>
            <a:rect r="r" b="b" t="t" l="l"/>
            <a:pathLst>
              <a:path h="1785813" w="4025398">
                <a:moveTo>
                  <a:pt x="4025398" y="0"/>
                </a:moveTo>
                <a:lnTo>
                  <a:pt x="0" y="0"/>
                </a:lnTo>
                <a:lnTo>
                  <a:pt x="0" y="1785814"/>
                </a:lnTo>
                <a:lnTo>
                  <a:pt x="4025398" y="1785814"/>
                </a:lnTo>
                <a:lnTo>
                  <a:pt x="4025398"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44004" y="35755"/>
            <a:ext cx="1648381" cy="1530057"/>
          </a:xfrm>
          <a:custGeom>
            <a:avLst/>
            <a:gdLst/>
            <a:ahLst/>
            <a:cxnLst/>
            <a:rect r="r" b="b" t="t" l="l"/>
            <a:pathLst>
              <a:path h="1530057" w="1648381">
                <a:moveTo>
                  <a:pt x="0" y="0"/>
                </a:moveTo>
                <a:lnTo>
                  <a:pt x="1648381" y="0"/>
                </a:lnTo>
                <a:lnTo>
                  <a:pt x="1648381" y="1530057"/>
                </a:lnTo>
                <a:lnTo>
                  <a:pt x="0" y="1530057"/>
                </a:lnTo>
                <a:lnTo>
                  <a:pt x="0" y="0"/>
                </a:lnTo>
                <a:close/>
              </a:path>
            </a:pathLst>
          </a:custGeom>
          <a:blipFill>
            <a:blip r:embed="rId10"/>
            <a:stretch>
              <a:fillRect l="0" t="0" r="0" b="0"/>
            </a:stretch>
          </a:blipFill>
        </p:spPr>
      </p:sp>
      <p:sp>
        <p:nvSpPr>
          <p:cNvPr name="TextBox 9" id="9"/>
          <p:cNvSpPr txBox="true"/>
          <p:nvPr/>
        </p:nvSpPr>
        <p:spPr>
          <a:xfrm rot="0">
            <a:off x="4776423" y="800784"/>
            <a:ext cx="9643354" cy="1221821"/>
          </a:xfrm>
          <a:prstGeom prst="rect">
            <a:avLst/>
          </a:prstGeom>
        </p:spPr>
        <p:txBody>
          <a:bodyPr anchor="t" rtlCol="false" tIns="0" lIns="0" bIns="0" rIns="0">
            <a:spAutoFit/>
          </a:bodyPr>
          <a:lstStyle/>
          <a:p>
            <a:pPr algn="l">
              <a:lnSpc>
                <a:spcPts val="9662"/>
              </a:lnSpc>
              <a:spcBef>
                <a:spcPct val="0"/>
              </a:spcBef>
            </a:pPr>
            <a:r>
              <a:rPr lang="en-US" sz="8051">
                <a:solidFill>
                  <a:srgbClr val="334865"/>
                </a:solidFill>
                <a:latin typeface="Knewave"/>
                <a:ea typeface="Knewave"/>
                <a:cs typeface="Knewave"/>
                <a:sym typeface="Knewave"/>
              </a:rPr>
              <a:t>Acceptance Cr</a:t>
            </a:r>
            <a:r>
              <a:rPr lang="en-US" sz="8051">
                <a:solidFill>
                  <a:srgbClr val="334865"/>
                </a:solidFill>
                <a:latin typeface="Knewave"/>
                <a:ea typeface="Knewave"/>
                <a:cs typeface="Knewave"/>
                <a:sym typeface="Knewave"/>
              </a:rPr>
              <a:t>iteria</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5143500"/>
            <a:ext cx="10287000" cy="20574000"/>
          </a:xfrm>
          <a:custGeom>
            <a:avLst/>
            <a:gdLst/>
            <a:ahLst/>
            <a:cxnLst/>
            <a:rect r="r" b="b" t="t" l="l"/>
            <a:pathLst>
              <a:path h="20574000" w="10287000">
                <a:moveTo>
                  <a:pt x="0" y="0"/>
                </a:moveTo>
                <a:lnTo>
                  <a:pt x="10287000" y="0"/>
                </a:lnTo>
                <a:lnTo>
                  <a:pt x="10287000" y="20574000"/>
                </a:lnTo>
                <a:lnTo>
                  <a:pt x="0" y="20574000"/>
                </a:lnTo>
                <a:lnTo>
                  <a:pt x="0" y="0"/>
                </a:lnTo>
                <a:close/>
              </a:path>
            </a:pathLst>
          </a:custGeom>
          <a:blipFill>
            <a:blip r:embed="rId2">
              <a:alphaModFix amt="6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652712" y="-1486929"/>
            <a:ext cx="5682118" cy="5031258"/>
          </a:xfrm>
          <a:custGeom>
            <a:avLst/>
            <a:gdLst/>
            <a:ahLst/>
            <a:cxnLst/>
            <a:rect r="r" b="b" t="t" l="l"/>
            <a:pathLst>
              <a:path h="5031258" w="5682118">
                <a:moveTo>
                  <a:pt x="0" y="0"/>
                </a:moveTo>
                <a:lnTo>
                  <a:pt x="5682118" y="0"/>
                </a:lnTo>
                <a:lnTo>
                  <a:pt x="5682118" y="5031258"/>
                </a:lnTo>
                <a:lnTo>
                  <a:pt x="0" y="503125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301897" y="2302792"/>
            <a:ext cx="18397474" cy="6955508"/>
          </a:xfrm>
          <a:prstGeom prst="rect">
            <a:avLst/>
          </a:prstGeom>
        </p:spPr>
        <p:txBody>
          <a:bodyPr anchor="t" rtlCol="false" tIns="0" lIns="0" bIns="0" rIns="0">
            <a:spAutoFit/>
          </a:bodyPr>
          <a:lstStyle/>
          <a:p>
            <a:pPr algn="l" marL="709468" indent="-354734" lvl="1">
              <a:lnSpc>
                <a:spcPts val="4600"/>
              </a:lnSpc>
              <a:buFont typeface="Arial"/>
              <a:buChar char="•"/>
            </a:pPr>
            <a:r>
              <a:rPr lang="en-US" sz="3286">
                <a:solidFill>
                  <a:srgbClr val="334865"/>
                </a:solidFill>
                <a:latin typeface="Comic Sans"/>
                <a:ea typeface="Comic Sans"/>
                <a:cs typeface="Comic Sans"/>
                <a:sym typeface="Comic Sans"/>
              </a:rPr>
              <a:t>CO1</a:t>
            </a:r>
          </a:p>
          <a:p>
            <a:pPr algn="l" marL="709468" indent="-354734" lvl="1">
              <a:lnSpc>
                <a:spcPts val="4600"/>
              </a:lnSpc>
              <a:buFont typeface="Arial"/>
              <a:buChar char="•"/>
            </a:pPr>
            <a:r>
              <a:rPr lang="en-US" sz="3286">
                <a:solidFill>
                  <a:srgbClr val="334865"/>
                </a:solidFill>
                <a:latin typeface="Comic Sans"/>
                <a:ea typeface="Comic Sans"/>
                <a:cs typeface="Comic Sans"/>
                <a:sym typeface="Comic Sans"/>
              </a:rPr>
              <a:t>Applied frontend engineering concepts by designing a responsive user interface using HTML, CSS, a</a:t>
            </a:r>
            <a:r>
              <a:rPr lang="en-US" sz="3286">
                <a:solidFill>
                  <a:srgbClr val="334865"/>
                </a:solidFill>
                <a:latin typeface="Comic Sans"/>
                <a:ea typeface="Comic Sans"/>
                <a:cs typeface="Comic Sans"/>
                <a:sym typeface="Comic Sans"/>
              </a:rPr>
              <a:t>nd JavaScript, with reusable layouts such as common headers and footers and an organized page structure.</a:t>
            </a:r>
          </a:p>
          <a:p>
            <a:pPr algn="l" marL="709468" indent="-354734" lvl="1">
              <a:lnSpc>
                <a:spcPts val="4600"/>
              </a:lnSpc>
              <a:buFont typeface="Arial"/>
              <a:buChar char="•"/>
            </a:pPr>
            <a:r>
              <a:rPr lang="en-US" sz="3286">
                <a:solidFill>
                  <a:srgbClr val="334865"/>
                </a:solidFill>
                <a:latin typeface="Comic Sans"/>
                <a:ea typeface="Comic Sans"/>
                <a:cs typeface="Comic Sans"/>
                <a:sym typeface="Comic Sans"/>
              </a:rPr>
              <a:t>CO2</a:t>
            </a:r>
          </a:p>
          <a:p>
            <a:pPr algn="l" marL="709468" indent="-354734" lvl="1">
              <a:lnSpc>
                <a:spcPts val="4600"/>
              </a:lnSpc>
              <a:buFont typeface="Arial"/>
              <a:buChar char="•"/>
            </a:pPr>
            <a:r>
              <a:rPr lang="en-US" sz="3286">
                <a:solidFill>
                  <a:srgbClr val="334865"/>
                </a:solidFill>
                <a:latin typeface="Comic Sans"/>
                <a:ea typeface="Comic Sans"/>
                <a:cs typeface="Comic Sans"/>
                <a:sym typeface="Comic Sans"/>
              </a:rPr>
              <a:t>Us</a:t>
            </a:r>
            <a:r>
              <a:rPr lang="en-US" sz="3286">
                <a:solidFill>
                  <a:srgbClr val="334865"/>
                </a:solidFill>
                <a:latin typeface="Comic Sans"/>
                <a:ea typeface="Comic Sans"/>
                <a:cs typeface="Comic Sans"/>
                <a:sym typeface="Comic Sans"/>
              </a:rPr>
              <a:t>ed JavaScript ES6 concepts such as functions, arrays, objects, event handling, asynchronous operations, and Fetch API for communication between the frontend and Node.js backend.</a:t>
            </a:r>
          </a:p>
          <a:p>
            <a:pPr algn="l" marL="709468" indent="-354734" lvl="1">
              <a:lnSpc>
                <a:spcPts val="4600"/>
              </a:lnSpc>
              <a:buFont typeface="Arial"/>
              <a:buChar char="•"/>
            </a:pPr>
            <a:r>
              <a:rPr lang="en-US" sz="3286">
                <a:solidFill>
                  <a:srgbClr val="334865"/>
                </a:solidFill>
                <a:latin typeface="Comic Sans"/>
                <a:ea typeface="Comic Sans"/>
                <a:cs typeface="Comic Sans"/>
                <a:sym typeface="Comic Sans"/>
              </a:rPr>
              <a:t>CO3</a:t>
            </a:r>
          </a:p>
          <a:p>
            <a:pPr algn="l" marL="709468" indent="-354734" lvl="1">
              <a:lnSpc>
                <a:spcPts val="4600"/>
              </a:lnSpc>
              <a:buFont typeface="Arial"/>
              <a:buChar char="•"/>
            </a:pPr>
            <a:r>
              <a:rPr lang="en-US" sz="3286">
                <a:solidFill>
                  <a:srgbClr val="334865"/>
                </a:solidFill>
                <a:latin typeface="Comic Sans"/>
                <a:ea typeface="Comic Sans"/>
                <a:cs typeface="Comic Sans"/>
                <a:sym typeface="Comic Sans"/>
              </a:rPr>
              <a:t>Designed modular and maintainable UI components such as Login, Signup, Dashboard, Activity Log, and Goals pages with proper separation of responsibilities.</a:t>
            </a:r>
          </a:p>
          <a:p>
            <a:pPr algn="l">
              <a:lnSpc>
                <a:spcPts val="4600"/>
              </a:lnSpc>
            </a:pPr>
          </a:p>
        </p:txBody>
      </p:sp>
      <p:sp>
        <p:nvSpPr>
          <p:cNvPr name="Freeform 5" id="5"/>
          <p:cNvSpPr/>
          <p:nvPr/>
        </p:nvSpPr>
        <p:spPr>
          <a:xfrm flipH="false" flipV="false" rot="0">
            <a:off x="44004" y="35755"/>
            <a:ext cx="1648381" cy="1530057"/>
          </a:xfrm>
          <a:custGeom>
            <a:avLst/>
            <a:gdLst/>
            <a:ahLst/>
            <a:cxnLst/>
            <a:rect r="r" b="b" t="t" l="l"/>
            <a:pathLst>
              <a:path h="1530057" w="1648381">
                <a:moveTo>
                  <a:pt x="0" y="0"/>
                </a:moveTo>
                <a:lnTo>
                  <a:pt x="1648381" y="0"/>
                </a:lnTo>
                <a:lnTo>
                  <a:pt x="1648381" y="1530057"/>
                </a:lnTo>
                <a:lnTo>
                  <a:pt x="0" y="1530057"/>
                </a:lnTo>
                <a:lnTo>
                  <a:pt x="0" y="0"/>
                </a:lnTo>
                <a:close/>
              </a:path>
            </a:pathLst>
          </a:custGeom>
          <a:blipFill>
            <a:blip r:embed="rId6"/>
            <a:stretch>
              <a:fillRect l="0" t="0" r="0" b="0"/>
            </a:stretch>
          </a:blipFill>
        </p:spPr>
      </p:sp>
      <p:sp>
        <p:nvSpPr>
          <p:cNvPr name="Freeform 6" id="6"/>
          <p:cNvSpPr/>
          <p:nvPr/>
        </p:nvSpPr>
        <p:spPr>
          <a:xfrm flipH="false" flipV="false" rot="-21600000">
            <a:off x="13413434" y="6987949"/>
            <a:ext cx="5682118" cy="5031258"/>
          </a:xfrm>
          <a:custGeom>
            <a:avLst/>
            <a:gdLst/>
            <a:ahLst/>
            <a:cxnLst/>
            <a:rect r="r" b="b" t="t" l="l"/>
            <a:pathLst>
              <a:path h="5031258" w="5682118">
                <a:moveTo>
                  <a:pt x="5682119" y="5031258"/>
                </a:moveTo>
                <a:lnTo>
                  <a:pt x="0" y="5031258"/>
                </a:lnTo>
                <a:lnTo>
                  <a:pt x="0" y="0"/>
                </a:lnTo>
                <a:lnTo>
                  <a:pt x="5682119" y="0"/>
                </a:lnTo>
                <a:lnTo>
                  <a:pt x="5682119" y="5031258"/>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1356867">
            <a:off x="15754530" y="299122"/>
            <a:ext cx="1950900" cy="1976050"/>
          </a:xfrm>
          <a:custGeom>
            <a:avLst/>
            <a:gdLst/>
            <a:ahLst/>
            <a:cxnLst/>
            <a:rect r="r" b="b" t="t" l="l"/>
            <a:pathLst>
              <a:path h="1976050" w="1950900">
                <a:moveTo>
                  <a:pt x="0" y="0"/>
                </a:moveTo>
                <a:lnTo>
                  <a:pt x="1950900" y="0"/>
                </a:lnTo>
                <a:lnTo>
                  <a:pt x="1950900" y="1976050"/>
                </a:lnTo>
                <a:lnTo>
                  <a:pt x="0" y="197605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8" id="8"/>
          <p:cNvSpPr txBox="true"/>
          <p:nvPr/>
        </p:nvSpPr>
        <p:spPr>
          <a:xfrm rot="0">
            <a:off x="5781460" y="800784"/>
            <a:ext cx="6221909" cy="952500"/>
          </a:xfrm>
          <a:prstGeom prst="rect">
            <a:avLst/>
          </a:prstGeom>
        </p:spPr>
        <p:txBody>
          <a:bodyPr anchor="t" rtlCol="false" tIns="0" lIns="0" bIns="0" rIns="0">
            <a:spAutoFit/>
          </a:bodyPr>
          <a:lstStyle/>
          <a:p>
            <a:pPr algn="ctr">
              <a:lnSpc>
                <a:spcPts val="7502"/>
              </a:lnSpc>
              <a:spcBef>
                <a:spcPct val="0"/>
              </a:spcBef>
            </a:pPr>
            <a:r>
              <a:rPr lang="en-US" sz="6252">
                <a:solidFill>
                  <a:srgbClr val="334865"/>
                </a:solidFill>
                <a:latin typeface="Knewave"/>
                <a:ea typeface="Knewave"/>
                <a:cs typeface="Knewave"/>
                <a:sym typeface="Knewave"/>
              </a:rPr>
              <a:t>CO Wise Mapping</a:t>
            </a:r>
          </a:p>
        </p:txBody>
      </p:sp>
      <p:sp>
        <p:nvSpPr>
          <p:cNvPr name="Freeform 9" id="9"/>
          <p:cNvSpPr/>
          <p:nvPr/>
        </p:nvSpPr>
        <p:spPr>
          <a:xfrm flipH="false" flipV="false" rot="-2700000">
            <a:off x="3028639" y="218677"/>
            <a:ext cx="2345486" cy="1164214"/>
          </a:xfrm>
          <a:custGeom>
            <a:avLst/>
            <a:gdLst/>
            <a:ahLst/>
            <a:cxnLst/>
            <a:rect r="r" b="b" t="t" l="l"/>
            <a:pathLst>
              <a:path h="1164214" w="2345486">
                <a:moveTo>
                  <a:pt x="0" y="0"/>
                </a:moveTo>
                <a:lnTo>
                  <a:pt x="2345487" y="0"/>
                </a:lnTo>
                <a:lnTo>
                  <a:pt x="2345487" y="1164214"/>
                </a:lnTo>
                <a:lnTo>
                  <a:pt x="0" y="116421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5143500"/>
            <a:ext cx="10287000" cy="20574000"/>
          </a:xfrm>
          <a:custGeom>
            <a:avLst/>
            <a:gdLst/>
            <a:ahLst/>
            <a:cxnLst/>
            <a:rect r="r" b="b" t="t" l="l"/>
            <a:pathLst>
              <a:path h="20574000" w="10287000">
                <a:moveTo>
                  <a:pt x="0" y="0"/>
                </a:moveTo>
                <a:lnTo>
                  <a:pt x="10287000" y="0"/>
                </a:lnTo>
                <a:lnTo>
                  <a:pt x="10287000" y="20574000"/>
                </a:lnTo>
                <a:lnTo>
                  <a:pt x="0" y="20574000"/>
                </a:lnTo>
                <a:lnTo>
                  <a:pt x="0" y="0"/>
                </a:lnTo>
                <a:close/>
              </a:path>
            </a:pathLst>
          </a:custGeom>
          <a:blipFill>
            <a:blip r:embed="rId2">
              <a:alphaModFix amt="6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1143000" y="-1686891"/>
            <a:ext cx="5682118" cy="5031258"/>
          </a:xfrm>
          <a:custGeom>
            <a:avLst/>
            <a:gdLst/>
            <a:ahLst/>
            <a:cxnLst/>
            <a:rect r="r" b="b" t="t" l="l"/>
            <a:pathLst>
              <a:path h="5031258" w="5682118">
                <a:moveTo>
                  <a:pt x="0" y="0"/>
                </a:moveTo>
                <a:lnTo>
                  <a:pt x="5682118" y="0"/>
                </a:lnTo>
                <a:lnTo>
                  <a:pt x="5682118" y="5031257"/>
                </a:lnTo>
                <a:lnTo>
                  <a:pt x="0" y="503125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09474" y="1939390"/>
            <a:ext cx="18397474" cy="7536533"/>
          </a:xfrm>
          <a:prstGeom prst="rect">
            <a:avLst/>
          </a:prstGeom>
        </p:spPr>
        <p:txBody>
          <a:bodyPr anchor="t" rtlCol="false" tIns="0" lIns="0" bIns="0" rIns="0">
            <a:spAutoFit/>
          </a:bodyPr>
          <a:lstStyle/>
          <a:p>
            <a:pPr algn="l" marL="709468" indent="-354734" lvl="1">
              <a:lnSpc>
                <a:spcPts val="4600"/>
              </a:lnSpc>
              <a:buFont typeface="Arial"/>
              <a:buChar char="•"/>
            </a:pPr>
            <a:r>
              <a:rPr lang="en-US" sz="3286">
                <a:solidFill>
                  <a:srgbClr val="334865"/>
                </a:solidFill>
                <a:latin typeface="Comic Sans"/>
                <a:ea typeface="Comic Sans"/>
                <a:cs typeface="Comic Sans"/>
                <a:sym typeface="Comic Sans"/>
              </a:rPr>
              <a:t>CO4</a:t>
            </a:r>
          </a:p>
          <a:p>
            <a:pPr algn="l" marL="709468" indent="-354734" lvl="1">
              <a:lnSpc>
                <a:spcPts val="4600"/>
              </a:lnSpc>
              <a:buFont typeface="Arial"/>
              <a:buChar char="•"/>
            </a:pPr>
            <a:r>
              <a:rPr lang="en-US" sz="3286">
                <a:solidFill>
                  <a:srgbClr val="334865"/>
                </a:solidFill>
                <a:latin typeface="Comic Sans"/>
                <a:ea typeface="Comic Sans"/>
                <a:cs typeface="Comic Sans"/>
                <a:sym typeface="Comic Sans"/>
              </a:rPr>
              <a:t>Im</a:t>
            </a:r>
            <a:r>
              <a:rPr lang="en-US" sz="3286">
                <a:solidFill>
                  <a:srgbClr val="334865"/>
                </a:solidFill>
                <a:latin typeface="Comic Sans"/>
                <a:ea typeface="Comic Sans"/>
                <a:cs typeface="Comic Sans"/>
                <a:sym typeface="Comic Sans"/>
              </a:rPr>
              <a:t>plemented data management and client-server communication using a Node.js HTTP server, GET a</a:t>
            </a:r>
            <a:r>
              <a:rPr lang="en-US" sz="3286">
                <a:solidFill>
                  <a:srgbClr val="334865"/>
                </a:solidFill>
                <a:latin typeface="Comic Sans"/>
                <a:ea typeface="Comic Sans"/>
                <a:cs typeface="Comic Sans"/>
                <a:sym typeface="Comic Sans"/>
              </a:rPr>
              <a:t>nd POST APIs, localStorage for goals and user information, and dynamic dashboard calculations.</a:t>
            </a:r>
          </a:p>
          <a:p>
            <a:pPr algn="l" marL="709468" indent="-354734" lvl="1">
              <a:lnSpc>
                <a:spcPts val="4600"/>
              </a:lnSpc>
              <a:buFont typeface="Arial"/>
              <a:buChar char="•"/>
            </a:pPr>
            <a:r>
              <a:rPr lang="en-US" sz="3286">
                <a:solidFill>
                  <a:srgbClr val="334865"/>
                </a:solidFill>
                <a:latin typeface="Comic Sans"/>
                <a:ea typeface="Comic Sans"/>
                <a:cs typeface="Comic Sans"/>
                <a:sym typeface="Comic Sans"/>
              </a:rPr>
              <a:t>CO5</a:t>
            </a:r>
          </a:p>
          <a:p>
            <a:pPr algn="l" marL="709468" indent="-354734" lvl="1">
              <a:lnSpc>
                <a:spcPts val="4600"/>
              </a:lnSpc>
              <a:buFont typeface="Arial"/>
              <a:buChar char="•"/>
            </a:pPr>
            <a:r>
              <a:rPr lang="en-US" sz="3286">
                <a:solidFill>
                  <a:srgbClr val="334865"/>
                </a:solidFill>
                <a:latin typeface="Comic Sans"/>
                <a:ea typeface="Comic Sans"/>
                <a:cs typeface="Comic Sans"/>
                <a:sym typeface="Comic Sans"/>
              </a:rPr>
              <a:t>D</a:t>
            </a:r>
            <a:r>
              <a:rPr lang="en-US" sz="3286">
                <a:solidFill>
                  <a:srgbClr val="334865"/>
                </a:solidFill>
                <a:latin typeface="Comic Sans"/>
                <a:ea typeface="Comic Sans"/>
                <a:cs typeface="Comic Sans"/>
                <a:sym typeface="Comic Sans"/>
              </a:rPr>
              <a:t>eveloped a complete user workflow including registration, login, activity logging, wellness tracking, goal management, input validation, and a user-friendly interface with good</a:t>
            </a:r>
          </a:p>
          <a:p>
            <a:pPr algn="l" marL="709468" indent="-354734" lvl="1">
              <a:lnSpc>
                <a:spcPts val="4600"/>
              </a:lnSpc>
              <a:buFont typeface="Arial"/>
              <a:buChar char="•"/>
            </a:pPr>
            <a:r>
              <a:rPr lang="en-US" sz="3286">
                <a:solidFill>
                  <a:srgbClr val="334865"/>
                </a:solidFill>
                <a:latin typeface="Comic Sans"/>
                <a:ea typeface="Comic Sans"/>
                <a:cs typeface="Comic Sans"/>
                <a:sym typeface="Comic Sans"/>
              </a:rPr>
              <a:t> usability.</a:t>
            </a:r>
          </a:p>
          <a:p>
            <a:pPr algn="l" marL="709468" indent="-354734" lvl="1">
              <a:lnSpc>
                <a:spcPts val="4600"/>
              </a:lnSpc>
              <a:buFont typeface="Arial"/>
              <a:buChar char="•"/>
            </a:pPr>
            <a:r>
              <a:rPr lang="en-US" sz="3286">
                <a:solidFill>
                  <a:srgbClr val="334865"/>
                </a:solidFill>
                <a:latin typeface="Comic Sans"/>
                <a:ea typeface="Comic Sans"/>
                <a:cs typeface="Comic Sans"/>
                <a:sym typeface="Comic Sans"/>
              </a:rPr>
              <a:t>CO6</a:t>
            </a:r>
          </a:p>
          <a:p>
            <a:pPr algn="l" marL="709468" indent="-354734" lvl="1">
              <a:lnSpc>
                <a:spcPts val="4600"/>
              </a:lnSpc>
              <a:buFont typeface="Arial"/>
              <a:buChar char="•"/>
            </a:pPr>
            <a:r>
              <a:rPr lang="en-US" sz="3286">
                <a:solidFill>
                  <a:srgbClr val="334865"/>
                </a:solidFill>
                <a:latin typeface="Comic Sans"/>
                <a:ea typeface="Comic Sans"/>
                <a:cs typeface="Comic Sans"/>
                <a:sym typeface="Comic Sans"/>
              </a:rPr>
              <a:t>Appl</a:t>
            </a:r>
            <a:r>
              <a:rPr lang="en-US" sz="3286">
                <a:solidFill>
                  <a:srgbClr val="334865"/>
                </a:solidFill>
                <a:latin typeface="Comic Sans"/>
                <a:ea typeface="Comic Sans"/>
                <a:cs typeface="Comic Sans"/>
                <a:sym typeface="Comic Sans"/>
              </a:rPr>
              <a:t>ied software engineering practices including organized file structure, local server setup, testing of API interactions, debugging, and maintaining a lightweight application suitable for local deployment.</a:t>
            </a:r>
          </a:p>
          <a:p>
            <a:pPr algn="l">
              <a:lnSpc>
                <a:spcPts val="4600"/>
              </a:lnSpc>
            </a:pPr>
          </a:p>
        </p:txBody>
      </p:sp>
      <p:sp>
        <p:nvSpPr>
          <p:cNvPr name="Freeform 5" id="5"/>
          <p:cNvSpPr/>
          <p:nvPr/>
        </p:nvSpPr>
        <p:spPr>
          <a:xfrm flipH="false" flipV="false" rot="0">
            <a:off x="44004" y="35755"/>
            <a:ext cx="1273492" cy="1182078"/>
          </a:xfrm>
          <a:custGeom>
            <a:avLst/>
            <a:gdLst/>
            <a:ahLst/>
            <a:cxnLst/>
            <a:rect r="r" b="b" t="t" l="l"/>
            <a:pathLst>
              <a:path h="1182078" w="1273492">
                <a:moveTo>
                  <a:pt x="0" y="0"/>
                </a:moveTo>
                <a:lnTo>
                  <a:pt x="1273492" y="0"/>
                </a:lnTo>
                <a:lnTo>
                  <a:pt x="1273492" y="1182078"/>
                </a:lnTo>
                <a:lnTo>
                  <a:pt x="0" y="1182078"/>
                </a:lnTo>
                <a:lnTo>
                  <a:pt x="0" y="0"/>
                </a:lnTo>
                <a:close/>
              </a:path>
            </a:pathLst>
          </a:custGeom>
          <a:blipFill>
            <a:blip r:embed="rId6"/>
            <a:stretch>
              <a:fillRect l="0" t="0" r="0" b="0"/>
            </a:stretch>
          </a:blipFill>
        </p:spPr>
      </p:sp>
      <p:sp>
        <p:nvSpPr>
          <p:cNvPr name="Freeform 6" id="6"/>
          <p:cNvSpPr/>
          <p:nvPr/>
        </p:nvSpPr>
        <p:spPr>
          <a:xfrm flipH="false" flipV="false" rot="0">
            <a:off x="12605882" y="7771371"/>
            <a:ext cx="5682118" cy="5031258"/>
          </a:xfrm>
          <a:custGeom>
            <a:avLst/>
            <a:gdLst/>
            <a:ahLst/>
            <a:cxnLst/>
            <a:rect r="r" b="b" t="t" l="l"/>
            <a:pathLst>
              <a:path h="5031258" w="5682118">
                <a:moveTo>
                  <a:pt x="0" y="0"/>
                </a:moveTo>
                <a:lnTo>
                  <a:pt x="5682118" y="0"/>
                </a:lnTo>
                <a:lnTo>
                  <a:pt x="5682118" y="5031258"/>
                </a:lnTo>
                <a:lnTo>
                  <a:pt x="0" y="503125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5781460" y="800784"/>
            <a:ext cx="6221909" cy="952500"/>
          </a:xfrm>
          <a:prstGeom prst="rect">
            <a:avLst/>
          </a:prstGeom>
        </p:spPr>
        <p:txBody>
          <a:bodyPr anchor="t" rtlCol="false" tIns="0" lIns="0" bIns="0" rIns="0">
            <a:spAutoFit/>
          </a:bodyPr>
          <a:lstStyle/>
          <a:p>
            <a:pPr algn="ctr">
              <a:lnSpc>
                <a:spcPts val="7502"/>
              </a:lnSpc>
              <a:spcBef>
                <a:spcPct val="0"/>
              </a:spcBef>
            </a:pPr>
            <a:r>
              <a:rPr lang="en-US" sz="6252">
                <a:solidFill>
                  <a:srgbClr val="334865"/>
                </a:solidFill>
                <a:latin typeface="Knewave"/>
                <a:ea typeface="Knewave"/>
                <a:cs typeface="Knewave"/>
                <a:sym typeface="Knewave"/>
              </a:rPr>
              <a:t>CO Wise Mapping</a:t>
            </a:r>
          </a:p>
        </p:txBody>
      </p:sp>
      <p:sp>
        <p:nvSpPr>
          <p:cNvPr name="Freeform 8" id="8"/>
          <p:cNvSpPr/>
          <p:nvPr/>
        </p:nvSpPr>
        <p:spPr>
          <a:xfrm flipH="false" flipV="false" rot="-1592937">
            <a:off x="15457867" y="175559"/>
            <a:ext cx="1128977" cy="2133806"/>
          </a:xfrm>
          <a:custGeom>
            <a:avLst/>
            <a:gdLst/>
            <a:ahLst/>
            <a:cxnLst/>
            <a:rect r="r" b="b" t="t" l="l"/>
            <a:pathLst>
              <a:path h="2133806" w="1128977">
                <a:moveTo>
                  <a:pt x="0" y="0"/>
                </a:moveTo>
                <a:lnTo>
                  <a:pt x="1128977" y="0"/>
                </a:lnTo>
                <a:lnTo>
                  <a:pt x="1128977" y="2133805"/>
                </a:lnTo>
                <a:lnTo>
                  <a:pt x="0" y="213380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1910166">
            <a:off x="3209171" y="272409"/>
            <a:ext cx="1538910" cy="1774425"/>
          </a:xfrm>
          <a:custGeom>
            <a:avLst/>
            <a:gdLst/>
            <a:ahLst/>
            <a:cxnLst/>
            <a:rect r="r" b="b" t="t" l="l"/>
            <a:pathLst>
              <a:path h="1774425" w="1538910">
                <a:moveTo>
                  <a:pt x="0" y="0"/>
                </a:moveTo>
                <a:lnTo>
                  <a:pt x="1538910" y="0"/>
                </a:lnTo>
                <a:lnTo>
                  <a:pt x="1538910" y="1774425"/>
                </a:lnTo>
                <a:lnTo>
                  <a:pt x="0" y="177442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DAHM_W_9QvA</dc:identifier>
  <dcterms:modified xsi:type="dcterms:W3CDTF">2011-08-01T06:04:30Z</dcterms:modified>
  <cp:revision>1</cp:revision>
  <dc:title>Yellow White and Blue Illustrated Fitness Presentation</dc:title>
</cp:coreProperties>
</file>